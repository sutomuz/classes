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sldIdLst>
    <p:sldId id="280" r:id="rId2"/>
    <p:sldId id="294" r:id="rId3"/>
    <p:sldId id="293" r:id="rId4"/>
    <p:sldId id="257" r:id="rId5"/>
    <p:sldId id="296" r:id="rId6"/>
    <p:sldId id="317" r:id="rId7"/>
    <p:sldId id="295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18" r:id="rId18"/>
    <p:sldId id="306" r:id="rId19"/>
    <p:sldId id="307" r:id="rId20"/>
    <p:sldId id="308" r:id="rId21"/>
    <p:sldId id="309" r:id="rId22"/>
    <p:sldId id="310" r:id="rId23"/>
    <p:sldId id="316" r:id="rId24"/>
    <p:sldId id="311" r:id="rId25"/>
    <p:sldId id="312" r:id="rId26"/>
    <p:sldId id="313" r:id="rId27"/>
    <p:sldId id="314" r:id="rId28"/>
    <p:sldId id="315" r:id="rId29"/>
    <p:sldId id="28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ABED"/>
    <a:srgbClr val="00FF00"/>
    <a:srgbClr val="F4DDDD"/>
    <a:srgbClr val="4CC58D"/>
    <a:srgbClr val="ED7D31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43"/>
    <p:restoredTop sz="94624"/>
  </p:normalViewPr>
  <p:slideViewPr>
    <p:cSldViewPr snapToGrid="0">
      <p:cViewPr varScale="1">
        <p:scale>
          <a:sx n="88" d="100"/>
          <a:sy n="88" d="100"/>
        </p:scale>
        <p:origin x="126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Navarro" userId="c25dad19-d08c-4611-ab05-d85e0c0fb7e0" providerId="ADAL" clId="{83764183-69E7-4554-80A8-B8BA797F1099}"/>
    <pc:docChg chg="custSel addSld modSld">
      <pc:chgData name="Christian Navarro" userId="c25dad19-d08c-4611-ab05-d85e0c0fb7e0" providerId="ADAL" clId="{83764183-69E7-4554-80A8-B8BA797F1099}" dt="2026-01-10T18:10:34.346" v="343" actId="20577"/>
      <pc:docMkLst>
        <pc:docMk/>
      </pc:docMkLst>
      <pc:sldChg chg="addSp delSp modSp add mod">
        <pc:chgData name="Christian Navarro" userId="c25dad19-d08c-4611-ab05-d85e0c0fb7e0" providerId="ADAL" clId="{83764183-69E7-4554-80A8-B8BA797F1099}" dt="2026-01-10T18:10:34.346" v="343" actId="20577"/>
        <pc:sldMkLst>
          <pc:docMk/>
          <pc:sldMk cId="3671499316" sldId="318"/>
        </pc:sldMkLst>
        <pc:spChg chg="mod">
          <ac:chgData name="Christian Navarro" userId="c25dad19-d08c-4611-ab05-d85e0c0fb7e0" providerId="ADAL" clId="{83764183-69E7-4554-80A8-B8BA797F1099}" dt="2026-01-10T18:07:55.022" v="90" actId="20577"/>
          <ac:spMkLst>
            <pc:docMk/>
            <pc:sldMk cId="3671499316" sldId="318"/>
            <ac:spMk id="2" creationId="{FDC9B18B-4C46-6A3E-5491-3BF5E574ED3F}"/>
          </ac:spMkLst>
        </pc:spChg>
        <pc:spChg chg="mod">
          <ac:chgData name="Christian Navarro" userId="c25dad19-d08c-4611-ab05-d85e0c0fb7e0" providerId="ADAL" clId="{83764183-69E7-4554-80A8-B8BA797F1099}" dt="2026-01-10T18:10:34.346" v="343" actId="20577"/>
          <ac:spMkLst>
            <pc:docMk/>
            <pc:sldMk cId="3671499316" sldId="318"/>
            <ac:spMk id="3" creationId="{781E9A3C-D2F7-05D3-E8BB-557D5CD391E9}"/>
          </ac:spMkLst>
        </pc:spChg>
        <pc:picChg chg="del mod">
          <ac:chgData name="Christian Navarro" userId="c25dad19-d08c-4611-ab05-d85e0c0fb7e0" providerId="ADAL" clId="{83764183-69E7-4554-80A8-B8BA797F1099}" dt="2026-01-10T18:05:55.047" v="48" actId="478"/>
          <ac:picMkLst>
            <pc:docMk/>
            <pc:sldMk cId="3671499316" sldId="318"/>
            <ac:picMk id="4" creationId="{EDAB6CFA-92B1-5A64-7B7D-EE210432918E}"/>
          </ac:picMkLst>
        </pc:picChg>
        <pc:picChg chg="add mod">
          <ac:chgData name="Christian Navarro" userId="c25dad19-d08c-4611-ab05-d85e0c0fb7e0" providerId="ADAL" clId="{83764183-69E7-4554-80A8-B8BA797F1099}" dt="2026-01-10T18:08:52.156" v="211" actId="1076"/>
          <ac:picMkLst>
            <pc:docMk/>
            <pc:sldMk cId="3671499316" sldId="318"/>
            <ac:picMk id="6" creationId="{CD0C70C5-3138-6B8D-6571-30AD1AAF367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51C978-F878-42A6-B44D-E5D186F802A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86EEA6D-B93A-4BA1-BB60-968964E8C65C}">
      <dgm:prSet/>
      <dgm:spPr/>
      <dgm:t>
        <a:bodyPr/>
        <a:lstStyle/>
        <a:p>
          <a:r>
            <a:rPr lang="en-US" b="1"/>
            <a:t>"Data! Data! Data!" he cried impatiently. "I can't make bricks without clay."</a:t>
          </a:r>
          <a:endParaRPr lang="en-US"/>
        </a:p>
      </dgm:t>
    </dgm:pt>
    <dgm:pt modelId="{16EEA6DB-59CD-4707-B0E2-E2230FA2342C}" type="parTrans" cxnId="{3B44B9AD-1CB0-476B-84EC-FB383C1D2CDD}">
      <dgm:prSet/>
      <dgm:spPr/>
      <dgm:t>
        <a:bodyPr/>
        <a:lstStyle/>
        <a:p>
          <a:endParaRPr lang="en-US"/>
        </a:p>
      </dgm:t>
    </dgm:pt>
    <dgm:pt modelId="{F34C14AD-3C07-4A61-8F5D-83C1CAA409EF}" type="sibTrans" cxnId="{3B44B9AD-1CB0-476B-84EC-FB383C1D2CDD}">
      <dgm:prSet/>
      <dgm:spPr/>
      <dgm:t>
        <a:bodyPr/>
        <a:lstStyle/>
        <a:p>
          <a:endParaRPr lang="en-US"/>
        </a:p>
      </dgm:t>
    </dgm:pt>
    <dgm:pt modelId="{F2A975D1-D8D9-4DF6-A4BF-FA0B6B860C56}">
      <dgm:prSet/>
      <dgm:spPr/>
      <dgm:t>
        <a:bodyPr/>
        <a:lstStyle/>
        <a:p>
          <a:r>
            <a:rPr lang="en-US" b="1"/>
            <a:t>– Sherlock Holmes, in The Adventure of the Copper Beeches</a:t>
          </a:r>
          <a:r>
            <a:rPr lang="en-US"/>
            <a:t> </a:t>
          </a:r>
        </a:p>
      </dgm:t>
    </dgm:pt>
    <dgm:pt modelId="{9D526206-8824-4760-9F27-F6B726AEF417}" type="parTrans" cxnId="{56C7697C-572F-4A16-98FD-3B5FA9B68F88}">
      <dgm:prSet/>
      <dgm:spPr/>
      <dgm:t>
        <a:bodyPr/>
        <a:lstStyle/>
        <a:p>
          <a:endParaRPr lang="en-US"/>
        </a:p>
      </dgm:t>
    </dgm:pt>
    <dgm:pt modelId="{B7B9EEDC-B14E-4AFD-89D2-8AC0F03BE1E2}" type="sibTrans" cxnId="{56C7697C-572F-4A16-98FD-3B5FA9B68F88}">
      <dgm:prSet/>
      <dgm:spPr/>
      <dgm:t>
        <a:bodyPr/>
        <a:lstStyle/>
        <a:p>
          <a:endParaRPr lang="en-US"/>
        </a:p>
      </dgm:t>
    </dgm:pt>
    <dgm:pt modelId="{BC5E68B8-6AF4-1A48-92FC-A48482275AA3}" type="pres">
      <dgm:prSet presAssocID="{C451C978-F878-42A6-B44D-E5D186F802A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D8EAC09-4691-AF4D-905D-A0213679C125}" type="pres">
      <dgm:prSet presAssocID="{386EEA6D-B93A-4BA1-BB60-968964E8C65C}" presName="hierRoot1" presStyleCnt="0"/>
      <dgm:spPr/>
    </dgm:pt>
    <dgm:pt modelId="{7DB232B5-AE21-4B49-AFFD-11890755B622}" type="pres">
      <dgm:prSet presAssocID="{386EEA6D-B93A-4BA1-BB60-968964E8C65C}" presName="composite" presStyleCnt="0"/>
      <dgm:spPr/>
    </dgm:pt>
    <dgm:pt modelId="{2E3FCA24-009E-3443-934A-9682C0D5C61B}" type="pres">
      <dgm:prSet presAssocID="{386EEA6D-B93A-4BA1-BB60-968964E8C65C}" presName="background" presStyleLbl="node0" presStyleIdx="0" presStyleCnt="2"/>
      <dgm:spPr/>
    </dgm:pt>
    <dgm:pt modelId="{E502D36F-5B82-3546-B869-E7B2D34DE1BD}" type="pres">
      <dgm:prSet presAssocID="{386EEA6D-B93A-4BA1-BB60-968964E8C65C}" presName="text" presStyleLbl="fgAcc0" presStyleIdx="0" presStyleCnt="2">
        <dgm:presLayoutVars>
          <dgm:chPref val="3"/>
        </dgm:presLayoutVars>
      </dgm:prSet>
      <dgm:spPr/>
    </dgm:pt>
    <dgm:pt modelId="{A018FAB1-202D-434D-92EA-0A9899C05A56}" type="pres">
      <dgm:prSet presAssocID="{386EEA6D-B93A-4BA1-BB60-968964E8C65C}" presName="hierChild2" presStyleCnt="0"/>
      <dgm:spPr/>
    </dgm:pt>
    <dgm:pt modelId="{21FBD6D9-FFF6-3B4C-8BD1-0DF6131EB666}" type="pres">
      <dgm:prSet presAssocID="{F2A975D1-D8D9-4DF6-A4BF-FA0B6B860C56}" presName="hierRoot1" presStyleCnt="0"/>
      <dgm:spPr/>
    </dgm:pt>
    <dgm:pt modelId="{44B1E789-9E95-6040-9A21-879641E512B8}" type="pres">
      <dgm:prSet presAssocID="{F2A975D1-D8D9-4DF6-A4BF-FA0B6B860C56}" presName="composite" presStyleCnt="0"/>
      <dgm:spPr/>
    </dgm:pt>
    <dgm:pt modelId="{F0D864FA-4311-E94F-9DCF-76B6BCAB182B}" type="pres">
      <dgm:prSet presAssocID="{F2A975D1-D8D9-4DF6-A4BF-FA0B6B860C56}" presName="background" presStyleLbl="node0" presStyleIdx="1" presStyleCnt="2"/>
      <dgm:spPr/>
    </dgm:pt>
    <dgm:pt modelId="{635AA6B3-82A7-B54E-930F-DC2C5750CB88}" type="pres">
      <dgm:prSet presAssocID="{F2A975D1-D8D9-4DF6-A4BF-FA0B6B860C56}" presName="text" presStyleLbl="fgAcc0" presStyleIdx="1" presStyleCnt="2">
        <dgm:presLayoutVars>
          <dgm:chPref val="3"/>
        </dgm:presLayoutVars>
      </dgm:prSet>
      <dgm:spPr/>
    </dgm:pt>
    <dgm:pt modelId="{FC2AB37D-A2FF-D646-A17E-991270DAE440}" type="pres">
      <dgm:prSet presAssocID="{F2A975D1-D8D9-4DF6-A4BF-FA0B6B860C56}" presName="hierChild2" presStyleCnt="0"/>
      <dgm:spPr/>
    </dgm:pt>
  </dgm:ptLst>
  <dgm:cxnLst>
    <dgm:cxn modelId="{F539A317-5389-534F-AEEA-C562448C338B}" type="presOf" srcId="{C451C978-F878-42A6-B44D-E5D186F802A1}" destId="{BC5E68B8-6AF4-1A48-92FC-A48482275AA3}" srcOrd="0" destOrd="0" presId="urn:microsoft.com/office/officeart/2005/8/layout/hierarchy1"/>
    <dgm:cxn modelId="{342A5B5C-5BE5-1D47-A25E-4D6511642F4C}" type="presOf" srcId="{F2A975D1-D8D9-4DF6-A4BF-FA0B6B860C56}" destId="{635AA6B3-82A7-B54E-930F-DC2C5750CB88}" srcOrd="0" destOrd="0" presId="urn:microsoft.com/office/officeart/2005/8/layout/hierarchy1"/>
    <dgm:cxn modelId="{56C7697C-572F-4A16-98FD-3B5FA9B68F88}" srcId="{C451C978-F878-42A6-B44D-E5D186F802A1}" destId="{F2A975D1-D8D9-4DF6-A4BF-FA0B6B860C56}" srcOrd="1" destOrd="0" parTransId="{9D526206-8824-4760-9F27-F6B726AEF417}" sibTransId="{B7B9EEDC-B14E-4AFD-89D2-8AC0F03BE1E2}"/>
    <dgm:cxn modelId="{94C93683-A6F2-8B41-916F-5A72EA4EA29B}" type="presOf" srcId="{386EEA6D-B93A-4BA1-BB60-968964E8C65C}" destId="{E502D36F-5B82-3546-B869-E7B2D34DE1BD}" srcOrd="0" destOrd="0" presId="urn:microsoft.com/office/officeart/2005/8/layout/hierarchy1"/>
    <dgm:cxn modelId="{3B44B9AD-1CB0-476B-84EC-FB383C1D2CDD}" srcId="{C451C978-F878-42A6-B44D-E5D186F802A1}" destId="{386EEA6D-B93A-4BA1-BB60-968964E8C65C}" srcOrd="0" destOrd="0" parTransId="{16EEA6DB-59CD-4707-B0E2-E2230FA2342C}" sibTransId="{F34C14AD-3C07-4A61-8F5D-83C1CAA409EF}"/>
    <dgm:cxn modelId="{06BE2E4A-174A-CF46-98DD-1AEFBE2568E9}" type="presParOf" srcId="{BC5E68B8-6AF4-1A48-92FC-A48482275AA3}" destId="{1D8EAC09-4691-AF4D-905D-A0213679C125}" srcOrd="0" destOrd="0" presId="urn:microsoft.com/office/officeart/2005/8/layout/hierarchy1"/>
    <dgm:cxn modelId="{461B53C2-A3E6-F042-A58C-22061080EAE2}" type="presParOf" srcId="{1D8EAC09-4691-AF4D-905D-A0213679C125}" destId="{7DB232B5-AE21-4B49-AFFD-11890755B622}" srcOrd="0" destOrd="0" presId="urn:microsoft.com/office/officeart/2005/8/layout/hierarchy1"/>
    <dgm:cxn modelId="{87225174-F397-7743-9705-F25E1161240F}" type="presParOf" srcId="{7DB232B5-AE21-4B49-AFFD-11890755B622}" destId="{2E3FCA24-009E-3443-934A-9682C0D5C61B}" srcOrd="0" destOrd="0" presId="urn:microsoft.com/office/officeart/2005/8/layout/hierarchy1"/>
    <dgm:cxn modelId="{3D9DB61B-6878-9748-ABB1-82CE92039346}" type="presParOf" srcId="{7DB232B5-AE21-4B49-AFFD-11890755B622}" destId="{E502D36F-5B82-3546-B869-E7B2D34DE1BD}" srcOrd="1" destOrd="0" presId="urn:microsoft.com/office/officeart/2005/8/layout/hierarchy1"/>
    <dgm:cxn modelId="{41083415-B70A-7943-8B5D-E3E145DBE86D}" type="presParOf" srcId="{1D8EAC09-4691-AF4D-905D-A0213679C125}" destId="{A018FAB1-202D-434D-92EA-0A9899C05A56}" srcOrd="1" destOrd="0" presId="urn:microsoft.com/office/officeart/2005/8/layout/hierarchy1"/>
    <dgm:cxn modelId="{73E32CFB-5245-9946-B851-404FA36F7EC2}" type="presParOf" srcId="{BC5E68B8-6AF4-1A48-92FC-A48482275AA3}" destId="{21FBD6D9-FFF6-3B4C-8BD1-0DF6131EB666}" srcOrd="1" destOrd="0" presId="urn:microsoft.com/office/officeart/2005/8/layout/hierarchy1"/>
    <dgm:cxn modelId="{03081791-153E-6D49-A1CA-F0ACC66DA813}" type="presParOf" srcId="{21FBD6D9-FFF6-3B4C-8BD1-0DF6131EB666}" destId="{44B1E789-9E95-6040-9A21-879641E512B8}" srcOrd="0" destOrd="0" presId="urn:microsoft.com/office/officeart/2005/8/layout/hierarchy1"/>
    <dgm:cxn modelId="{0EA38DBE-1A4F-6244-8746-E9B1B112E832}" type="presParOf" srcId="{44B1E789-9E95-6040-9A21-879641E512B8}" destId="{F0D864FA-4311-E94F-9DCF-76B6BCAB182B}" srcOrd="0" destOrd="0" presId="urn:microsoft.com/office/officeart/2005/8/layout/hierarchy1"/>
    <dgm:cxn modelId="{98E01955-5821-5D41-A6D0-09C9ADF4E932}" type="presParOf" srcId="{44B1E789-9E95-6040-9A21-879641E512B8}" destId="{635AA6B3-82A7-B54E-930F-DC2C5750CB88}" srcOrd="1" destOrd="0" presId="urn:microsoft.com/office/officeart/2005/8/layout/hierarchy1"/>
    <dgm:cxn modelId="{EB92D562-336B-624E-A12D-9FFFDD9F61FE}" type="presParOf" srcId="{21FBD6D9-FFF6-3B4C-8BD1-0DF6131EB666}" destId="{FC2AB37D-A2FF-D646-A17E-991270DAE44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CE38A4-78F3-4573-B6F0-2026163B2E0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8B06A1D-4C59-490E-B928-0A01A9ED00AE}">
      <dgm:prSet/>
      <dgm:spPr/>
      <dgm:t>
        <a:bodyPr/>
        <a:lstStyle/>
        <a:p>
          <a:r>
            <a:rPr lang="en-US"/>
            <a:t>Python has data types; the types are linked  to the objects themselves.</a:t>
          </a:r>
        </a:p>
      </dgm:t>
    </dgm:pt>
    <dgm:pt modelId="{31746C47-0EFA-4B4E-989E-090440998F76}" type="parTrans" cxnId="{F0203097-E445-4F6F-9491-DC7E590F27DC}">
      <dgm:prSet/>
      <dgm:spPr/>
      <dgm:t>
        <a:bodyPr/>
        <a:lstStyle/>
        <a:p>
          <a:endParaRPr lang="en-US"/>
        </a:p>
      </dgm:t>
    </dgm:pt>
    <dgm:pt modelId="{703E2393-EE01-456B-8644-3C20A0C6E6AF}" type="sibTrans" cxnId="{F0203097-E445-4F6F-9491-DC7E590F27DC}">
      <dgm:prSet/>
      <dgm:spPr/>
      <dgm:t>
        <a:bodyPr/>
        <a:lstStyle/>
        <a:p>
          <a:endParaRPr lang="en-US"/>
        </a:p>
      </dgm:t>
    </dgm:pt>
    <dgm:pt modelId="{DE4FEEC2-0812-4631-A377-55121DD16519}">
      <dgm:prSet/>
      <dgm:spPr/>
      <dgm:t>
        <a:bodyPr/>
        <a:lstStyle/>
        <a:p>
          <a:r>
            <a:rPr lang="en-US"/>
            <a:t>Every entity has metadata (called attributes) and associated functionality (called methods). </a:t>
          </a:r>
        </a:p>
      </dgm:t>
    </dgm:pt>
    <dgm:pt modelId="{1B0AFA94-F9F5-4C4A-B05A-16F34DE603FB}" type="parTrans" cxnId="{C61E738A-BF30-4DEB-8AB1-515C38AD53D1}">
      <dgm:prSet/>
      <dgm:spPr/>
      <dgm:t>
        <a:bodyPr/>
        <a:lstStyle/>
        <a:p>
          <a:endParaRPr lang="en-US"/>
        </a:p>
      </dgm:t>
    </dgm:pt>
    <dgm:pt modelId="{D8D94FAA-3EC7-438B-9FFA-9630346CC12A}" type="sibTrans" cxnId="{C61E738A-BF30-4DEB-8AB1-515C38AD53D1}">
      <dgm:prSet/>
      <dgm:spPr/>
      <dgm:t>
        <a:bodyPr/>
        <a:lstStyle/>
        <a:p>
          <a:endParaRPr lang="en-US"/>
        </a:p>
      </dgm:t>
    </dgm:pt>
    <dgm:pt modelId="{569733A7-397C-4FD4-A362-B9A8D238D2AD}">
      <dgm:prSet/>
      <dgm:spPr/>
      <dgm:t>
        <a:bodyPr/>
        <a:lstStyle/>
        <a:p>
          <a:r>
            <a:rPr lang="en-US"/>
            <a:t>The attributes and methods are accessed via the dot syntax.</a:t>
          </a:r>
        </a:p>
      </dgm:t>
    </dgm:pt>
    <dgm:pt modelId="{84DB0E25-FBD5-4912-9D1E-A16E3B9D6A4D}" type="parTrans" cxnId="{1F9CD0C9-9E31-40F0-A469-04FA46ADE961}">
      <dgm:prSet/>
      <dgm:spPr/>
      <dgm:t>
        <a:bodyPr/>
        <a:lstStyle/>
        <a:p>
          <a:endParaRPr lang="en-US"/>
        </a:p>
      </dgm:t>
    </dgm:pt>
    <dgm:pt modelId="{EA692F3A-141E-4011-ADE0-01CCA5EE1B19}" type="sibTrans" cxnId="{1F9CD0C9-9E31-40F0-A469-04FA46ADE961}">
      <dgm:prSet/>
      <dgm:spPr/>
      <dgm:t>
        <a:bodyPr/>
        <a:lstStyle/>
        <a:p>
          <a:endParaRPr lang="en-US"/>
        </a:p>
      </dgm:t>
    </dgm:pt>
    <dgm:pt modelId="{8B524A3B-E7D7-4DB3-8E52-84F80E035F17}">
      <dgm:prSet/>
      <dgm:spPr/>
      <dgm:t>
        <a:bodyPr/>
        <a:lstStyle/>
        <a:p>
          <a:r>
            <a:rPr lang="en-US"/>
            <a:t>Such as </a:t>
          </a:r>
          <a:r>
            <a:rPr lang="en-US">
              <a:solidFill>
                <a:srgbClr val="00FF00"/>
              </a:solidFill>
            </a:rPr>
            <a:t>x = 5    </a:t>
          </a:r>
          <a:r>
            <a:rPr lang="en-US" err="1">
              <a:solidFill>
                <a:srgbClr val="00FF00"/>
              </a:solidFill>
            </a:rPr>
            <a:t>x.append</a:t>
          </a:r>
          <a:endParaRPr lang="en-US">
            <a:solidFill>
              <a:srgbClr val="00FF00"/>
            </a:solidFill>
          </a:endParaRPr>
        </a:p>
      </dgm:t>
    </dgm:pt>
    <dgm:pt modelId="{BA9B72D5-944D-4BBF-AC35-2A8DB0F64F7F}" type="parTrans" cxnId="{7087D551-B584-402F-A9E0-B3C65A8F2BAE}">
      <dgm:prSet/>
      <dgm:spPr/>
      <dgm:t>
        <a:bodyPr/>
        <a:lstStyle/>
        <a:p>
          <a:endParaRPr lang="en-US"/>
        </a:p>
      </dgm:t>
    </dgm:pt>
    <dgm:pt modelId="{8E3A0F7E-9520-4379-BA0A-DA52DD154D26}" type="sibTrans" cxnId="{7087D551-B584-402F-A9E0-B3C65A8F2BAE}">
      <dgm:prSet/>
      <dgm:spPr/>
      <dgm:t>
        <a:bodyPr/>
        <a:lstStyle/>
        <a:p>
          <a:endParaRPr lang="en-US"/>
        </a:p>
      </dgm:t>
    </dgm:pt>
    <dgm:pt modelId="{09691FD7-E096-47CD-8932-B8D1E482676C}">
      <dgm:prSet/>
      <dgm:spPr/>
      <dgm:t>
        <a:bodyPr/>
        <a:lstStyle/>
        <a:p>
          <a:r>
            <a:rPr lang="en-US"/>
            <a:t>Check some data types:</a:t>
          </a:r>
        </a:p>
      </dgm:t>
    </dgm:pt>
    <dgm:pt modelId="{E1DCE5D6-CA1C-48AF-AFBA-365B4038D381}" type="parTrans" cxnId="{98B92802-36C4-404C-955C-069BAF9F7BDB}">
      <dgm:prSet/>
      <dgm:spPr/>
      <dgm:t>
        <a:bodyPr/>
        <a:lstStyle/>
        <a:p>
          <a:endParaRPr lang="en-US"/>
        </a:p>
      </dgm:t>
    </dgm:pt>
    <dgm:pt modelId="{5468C004-84AB-4010-9BB1-7144E146B85A}" type="sibTrans" cxnId="{98B92802-36C4-404C-955C-069BAF9F7BDB}">
      <dgm:prSet/>
      <dgm:spPr/>
      <dgm:t>
        <a:bodyPr/>
        <a:lstStyle/>
        <a:p>
          <a:endParaRPr lang="en-US"/>
        </a:p>
      </dgm:t>
    </dgm:pt>
    <dgm:pt modelId="{2AEA2745-E1B2-3A47-9F02-7F521AAFDF2B}" type="pres">
      <dgm:prSet presAssocID="{70CE38A4-78F3-4573-B6F0-2026163B2E0C}" presName="vert0" presStyleCnt="0">
        <dgm:presLayoutVars>
          <dgm:dir/>
          <dgm:animOne val="branch"/>
          <dgm:animLvl val="lvl"/>
        </dgm:presLayoutVars>
      </dgm:prSet>
      <dgm:spPr/>
    </dgm:pt>
    <dgm:pt modelId="{BBE52033-DF69-2149-AD01-4BE91079CB29}" type="pres">
      <dgm:prSet presAssocID="{88B06A1D-4C59-490E-B928-0A01A9ED00AE}" presName="thickLine" presStyleLbl="alignNode1" presStyleIdx="0" presStyleCnt="5"/>
      <dgm:spPr/>
    </dgm:pt>
    <dgm:pt modelId="{5C549EC8-1DC8-814D-9F71-F376C5C24004}" type="pres">
      <dgm:prSet presAssocID="{88B06A1D-4C59-490E-B928-0A01A9ED00AE}" presName="horz1" presStyleCnt="0"/>
      <dgm:spPr/>
    </dgm:pt>
    <dgm:pt modelId="{981050C9-62C3-3F4B-826D-BBA166C6F9A0}" type="pres">
      <dgm:prSet presAssocID="{88B06A1D-4C59-490E-B928-0A01A9ED00AE}" presName="tx1" presStyleLbl="revTx" presStyleIdx="0" presStyleCnt="5"/>
      <dgm:spPr/>
    </dgm:pt>
    <dgm:pt modelId="{F688F0E5-536A-EB49-89AC-FFB3C5DC5ABD}" type="pres">
      <dgm:prSet presAssocID="{88B06A1D-4C59-490E-B928-0A01A9ED00AE}" presName="vert1" presStyleCnt="0"/>
      <dgm:spPr/>
    </dgm:pt>
    <dgm:pt modelId="{6CE568C2-DC9D-CA43-8A35-CE58DD66D8BC}" type="pres">
      <dgm:prSet presAssocID="{DE4FEEC2-0812-4631-A377-55121DD16519}" presName="thickLine" presStyleLbl="alignNode1" presStyleIdx="1" presStyleCnt="5"/>
      <dgm:spPr/>
    </dgm:pt>
    <dgm:pt modelId="{B27463EF-71CF-2847-8F70-B555996FAEFA}" type="pres">
      <dgm:prSet presAssocID="{DE4FEEC2-0812-4631-A377-55121DD16519}" presName="horz1" presStyleCnt="0"/>
      <dgm:spPr/>
    </dgm:pt>
    <dgm:pt modelId="{6050E81D-329C-B549-9C18-637653B9C2A7}" type="pres">
      <dgm:prSet presAssocID="{DE4FEEC2-0812-4631-A377-55121DD16519}" presName="tx1" presStyleLbl="revTx" presStyleIdx="1" presStyleCnt="5"/>
      <dgm:spPr/>
    </dgm:pt>
    <dgm:pt modelId="{B95BE7D4-5396-8E4A-AA71-31F004820A81}" type="pres">
      <dgm:prSet presAssocID="{DE4FEEC2-0812-4631-A377-55121DD16519}" presName="vert1" presStyleCnt="0"/>
      <dgm:spPr/>
    </dgm:pt>
    <dgm:pt modelId="{A1B9FA6D-4FD2-BB4A-B3FF-7D62D1EE07EA}" type="pres">
      <dgm:prSet presAssocID="{569733A7-397C-4FD4-A362-B9A8D238D2AD}" presName="thickLine" presStyleLbl="alignNode1" presStyleIdx="2" presStyleCnt="5"/>
      <dgm:spPr/>
    </dgm:pt>
    <dgm:pt modelId="{8BE0F864-2400-0C40-9045-B871742DB5A5}" type="pres">
      <dgm:prSet presAssocID="{569733A7-397C-4FD4-A362-B9A8D238D2AD}" presName="horz1" presStyleCnt="0"/>
      <dgm:spPr/>
    </dgm:pt>
    <dgm:pt modelId="{23286F00-7CD3-8341-ADBD-01265EEC2CF5}" type="pres">
      <dgm:prSet presAssocID="{569733A7-397C-4FD4-A362-B9A8D238D2AD}" presName="tx1" presStyleLbl="revTx" presStyleIdx="2" presStyleCnt="5"/>
      <dgm:spPr/>
    </dgm:pt>
    <dgm:pt modelId="{6BC123DF-1947-3744-B1F6-6B71EE58580A}" type="pres">
      <dgm:prSet presAssocID="{569733A7-397C-4FD4-A362-B9A8D238D2AD}" presName="vert1" presStyleCnt="0"/>
      <dgm:spPr/>
    </dgm:pt>
    <dgm:pt modelId="{6EB22D20-78B5-F14F-8301-1B0A9F9E3C76}" type="pres">
      <dgm:prSet presAssocID="{8B524A3B-E7D7-4DB3-8E52-84F80E035F17}" presName="thickLine" presStyleLbl="alignNode1" presStyleIdx="3" presStyleCnt="5"/>
      <dgm:spPr/>
    </dgm:pt>
    <dgm:pt modelId="{D845239D-2CFB-3B43-8393-CFA2EE683AD6}" type="pres">
      <dgm:prSet presAssocID="{8B524A3B-E7D7-4DB3-8E52-84F80E035F17}" presName="horz1" presStyleCnt="0"/>
      <dgm:spPr/>
    </dgm:pt>
    <dgm:pt modelId="{6584D627-5A7C-F842-9EB4-0D99423301EF}" type="pres">
      <dgm:prSet presAssocID="{8B524A3B-E7D7-4DB3-8E52-84F80E035F17}" presName="tx1" presStyleLbl="revTx" presStyleIdx="3" presStyleCnt="5"/>
      <dgm:spPr/>
    </dgm:pt>
    <dgm:pt modelId="{559E4D10-3B16-304D-9C3E-450C4C739F02}" type="pres">
      <dgm:prSet presAssocID="{8B524A3B-E7D7-4DB3-8E52-84F80E035F17}" presName="vert1" presStyleCnt="0"/>
      <dgm:spPr/>
    </dgm:pt>
    <dgm:pt modelId="{C87A41C2-671B-FB45-B683-4E537E7000AF}" type="pres">
      <dgm:prSet presAssocID="{09691FD7-E096-47CD-8932-B8D1E482676C}" presName="thickLine" presStyleLbl="alignNode1" presStyleIdx="4" presStyleCnt="5"/>
      <dgm:spPr/>
    </dgm:pt>
    <dgm:pt modelId="{3EEE487D-A6F4-D240-BC1F-76FAAE9ABD7C}" type="pres">
      <dgm:prSet presAssocID="{09691FD7-E096-47CD-8932-B8D1E482676C}" presName="horz1" presStyleCnt="0"/>
      <dgm:spPr/>
    </dgm:pt>
    <dgm:pt modelId="{9BB5AE2A-E23A-574F-A75E-54646ED81F71}" type="pres">
      <dgm:prSet presAssocID="{09691FD7-E096-47CD-8932-B8D1E482676C}" presName="tx1" presStyleLbl="revTx" presStyleIdx="4" presStyleCnt="5"/>
      <dgm:spPr/>
    </dgm:pt>
    <dgm:pt modelId="{89093E63-A6A2-164A-A707-07D187E4F243}" type="pres">
      <dgm:prSet presAssocID="{09691FD7-E096-47CD-8932-B8D1E482676C}" presName="vert1" presStyleCnt="0"/>
      <dgm:spPr/>
    </dgm:pt>
  </dgm:ptLst>
  <dgm:cxnLst>
    <dgm:cxn modelId="{98B92802-36C4-404C-955C-069BAF9F7BDB}" srcId="{70CE38A4-78F3-4573-B6F0-2026163B2E0C}" destId="{09691FD7-E096-47CD-8932-B8D1E482676C}" srcOrd="4" destOrd="0" parTransId="{E1DCE5D6-CA1C-48AF-AFBA-365B4038D381}" sibTransId="{5468C004-84AB-4010-9BB1-7144E146B85A}"/>
    <dgm:cxn modelId="{9BCF7B04-B9F2-A54A-A16E-C31200272559}" type="presOf" srcId="{8B524A3B-E7D7-4DB3-8E52-84F80E035F17}" destId="{6584D627-5A7C-F842-9EB4-0D99423301EF}" srcOrd="0" destOrd="0" presId="urn:microsoft.com/office/officeart/2008/layout/LinedList"/>
    <dgm:cxn modelId="{09B1AC36-934F-BC40-B59B-41F0634D59CE}" type="presOf" srcId="{09691FD7-E096-47CD-8932-B8D1E482676C}" destId="{9BB5AE2A-E23A-574F-A75E-54646ED81F71}" srcOrd="0" destOrd="0" presId="urn:microsoft.com/office/officeart/2008/layout/LinedList"/>
    <dgm:cxn modelId="{A8D65B45-F333-A34B-8DD6-20A7B2CDD67A}" type="presOf" srcId="{569733A7-397C-4FD4-A362-B9A8D238D2AD}" destId="{23286F00-7CD3-8341-ADBD-01265EEC2CF5}" srcOrd="0" destOrd="0" presId="urn:microsoft.com/office/officeart/2008/layout/LinedList"/>
    <dgm:cxn modelId="{7087D551-B584-402F-A9E0-B3C65A8F2BAE}" srcId="{70CE38A4-78F3-4573-B6F0-2026163B2E0C}" destId="{8B524A3B-E7D7-4DB3-8E52-84F80E035F17}" srcOrd="3" destOrd="0" parTransId="{BA9B72D5-944D-4BBF-AC35-2A8DB0F64F7F}" sibTransId="{8E3A0F7E-9520-4379-BA0A-DA52DD154D26}"/>
    <dgm:cxn modelId="{C61E738A-BF30-4DEB-8AB1-515C38AD53D1}" srcId="{70CE38A4-78F3-4573-B6F0-2026163B2E0C}" destId="{DE4FEEC2-0812-4631-A377-55121DD16519}" srcOrd="1" destOrd="0" parTransId="{1B0AFA94-F9F5-4C4A-B05A-16F34DE603FB}" sibTransId="{D8D94FAA-3EC7-438B-9FFA-9630346CC12A}"/>
    <dgm:cxn modelId="{F0203097-E445-4F6F-9491-DC7E590F27DC}" srcId="{70CE38A4-78F3-4573-B6F0-2026163B2E0C}" destId="{88B06A1D-4C59-490E-B928-0A01A9ED00AE}" srcOrd="0" destOrd="0" parTransId="{31746C47-0EFA-4B4E-989E-090440998F76}" sibTransId="{703E2393-EE01-456B-8644-3C20A0C6E6AF}"/>
    <dgm:cxn modelId="{460B24A6-4582-2F48-AD5C-E573E92679F8}" type="presOf" srcId="{DE4FEEC2-0812-4631-A377-55121DD16519}" destId="{6050E81D-329C-B549-9C18-637653B9C2A7}" srcOrd="0" destOrd="0" presId="urn:microsoft.com/office/officeart/2008/layout/LinedList"/>
    <dgm:cxn modelId="{1F9CD0C9-9E31-40F0-A469-04FA46ADE961}" srcId="{70CE38A4-78F3-4573-B6F0-2026163B2E0C}" destId="{569733A7-397C-4FD4-A362-B9A8D238D2AD}" srcOrd="2" destOrd="0" parTransId="{84DB0E25-FBD5-4912-9D1E-A16E3B9D6A4D}" sibTransId="{EA692F3A-141E-4011-ADE0-01CCA5EE1B19}"/>
    <dgm:cxn modelId="{595551DC-B719-F34B-A38E-1D90A0D36314}" type="presOf" srcId="{88B06A1D-4C59-490E-B928-0A01A9ED00AE}" destId="{981050C9-62C3-3F4B-826D-BBA166C6F9A0}" srcOrd="0" destOrd="0" presId="urn:microsoft.com/office/officeart/2008/layout/LinedList"/>
    <dgm:cxn modelId="{29E5BFFB-24EB-C949-9CF3-214DCCA63615}" type="presOf" srcId="{70CE38A4-78F3-4573-B6F0-2026163B2E0C}" destId="{2AEA2745-E1B2-3A47-9F02-7F521AAFDF2B}" srcOrd="0" destOrd="0" presId="urn:microsoft.com/office/officeart/2008/layout/LinedList"/>
    <dgm:cxn modelId="{3ABD1EC8-6365-C74C-91F9-26F1E04364BB}" type="presParOf" srcId="{2AEA2745-E1B2-3A47-9F02-7F521AAFDF2B}" destId="{BBE52033-DF69-2149-AD01-4BE91079CB29}" srcOrd="0" destOrd="0" presId="urn:microsoft.com/office/officeart/2008/layout/LinedList"/>
    <dgm:cxn modelId="{C341D0F8-99D8-9D45-AAA4-28E864A86711}" type="presParOf" srcId="{2AEA2745-E1B2-3A47-9F02-7F521AAFDF2B}" destId="{5C549EC8-1DC8-814D-9F71-F376C5C24004}" srcOrd="1" destOrd="0" presId="urn:microsoft.com/office/officeart/2008/layout/LinedList"/>
    <dgm:cxn modelId="{E97D0369-B09C-4F46-868D-2C4982B1DE26}" type="presParOf" srcId="{5C549EC8-1DC8-814D-9F71-F376C5C24004}" destId="{981050C9-62C3-3F4B-826D-BBA166C6F9A0}" srcOrd="0" destOrd="0" presId="urn:microsoft.com/office/officeart/2008/layout/LinedList"/>
    <dgm:cxn modelId="{7BD5DFFA-A7E0-D142-9472-C1BC60FC7A00}" type="presParOf" srcId="{5C549EC8-1DC8-814D-9F71-F376C5C24004}" destId="{F688F0E5-536A-EB49-89AC-FFB3C5DC5ABD}" srcOrd="1" destOrd="0" presId="urn:microsoft.com/office/officeart/2008/layout/LinedList"/>
    <dgm:cxn modelId="{FFAEFB90-F732-B840-A888-DAA99B8FC3E1}" type="presParOf" srcId="{2AEA2745-E1B2-3A47-9F02-7F521AAFDF2B}" destId="{6CE568C2-DC9D-CA43-8A35-CE58DD66D8BC}" srcOrd="2" destOrd="0" presId="urn:microsoft.com/office/officeart/2008/layout/LinedList"/>
    <dgm:cxn modelId="{DFBEB86F-075A-664C-9D55-3728CB072FE0}" type="presParOf" srcId="{2AEA2745-E1B2-3A47-9F02-7F521AAFDF2B}" destId="{B27463EF-71CF-2847-8F70-B555996FAEFA}" srcOrd="3" destOrd="0" presId="urn:microsoft.com/office/officeart/2008/layout/LinedList"/>
    <dgm:cxn modelId="{26A6B34F-7C97-7041-AA76-19B36E99CA61}" type="presParOf" srcId="{B27463EF-71CF-2847-8F70-B555996FAEFA}" destId="{6050E81D-329C-B549-9C18-637653B9C2A7}" srcOrd="0" destOrd="0" presId="urn:microsoft.com/office/officeart/2008/layout/LinedList"/>
    <dgm:cxn modelId="{AAB4C1ED-18E2-8149-A4D4-25085D3EC433}" type="presParOf" srcId="{B27463EF-71CF-2847-8F70-B555996FAEFA}" destId="{B95BE7D4-5396-8E4A-AA71-31F004820A81}" srcOrd="1" destOrd="0" presId="urn:microsoft.com/office/officeart/2008/layout/LinedList"/>
    <dgm:cxn modelId="{A4D41645-B1E5-AF44-855D-69C4819DF545}" type="presParOf" srcId="{2AEA2745-E1B2-3A47-9F02-7F521AAFDF2B}" destId="{A1B9FA6D-4FD2-BB4A-B3FF-7D62D1EE07EA}" srcOrd="4" destOrd="0" presId="urn:microsoft.com/office/officeart/2008/layout/LinedList"/>
    <dgm:cxn modelId="{EA7B7194-ABC9-8247-9359-BEB1A569EFCB}" type="presParOf" srcId="{2AEA2745-E1B2-3A47-9F02-7F521AAFDF2B}" destId="{8BE0F864-2400-0C40-9045-B871742DB5A5}" srcOrd="5" destOrd="0" presId="urn:microsoft.com/office/officeart/2008/layout/LinedList"/>
    <dgm:cxn modelId="{6552F3BC-030A-9A45-8FA9-5C1BB615378A}" type="presParOf" srcId="{8BE0F864-2400-0C40-9045-B871742DB5A5}" destId="{23286F00-7CD3-8341-ADBD-01265EEC2CF5}" srcOrd="0" destOrd="0" presId="urn:microsoft.com/office/officeart/2008/layout/LinedList"/>
    <dgm:cxn modelId="{257785AC-9869-2F47-8450-7FF38AE5E456}" type="presParOf" srcId="{8BE0F864-2400-0C40-9045-B871742DB5A5}" destId="{6BC123DF-1947-3744-B1F6-6B71EE58580A}" srcOrd="1" destOrd="0" presId="urn:microsoft.com/office/officeart/2008/layout/LinedList"/>
    <dgm:cxn modelId="{79A8D22E-75E8-BB4B-8912-56BF0199A837}" type="presParOf" srcId="{2AEA2745-E1B2-3A47-9F02-7F521AAFDF2B}" destId="{6EB22D20-78B5-F14F-8301-1B0A9F9E3C76}" srcOrd="6" destOrd="0" presId="urn:microsoft.com/office/officeart/2008/layout/LinedList"/>
    <dgm:cxn modelId="{CEEC466E-E722-E54F-88CE-2D5E62F05BCA}" type="presParOf" srcId="{2AEA2745-E1B2-3A47-9F02-7F521AAFDF2B}" destId="{D845239D-2CFB-3B43-8393-CFA2EE683AD6}" srcOrd="7" destOrd="0" presId="urn:microsoft.com/office/officeart/2008/layout/LinedList"/>
    <dgm:cxn modelId="{965F43FB-97C7-0146-8524-754728D33BD2}" type="presParOf" srcId="{D845239D-2CFB-3B43-8393-CFA2EE683AD6}" destId="{6584D627-5A7C-F842-9EB4-0D99423301EF}" srcOrd="0" destOrd="0" presId="urn:microsoft.com/office/officeart/2008/layout/LinedList"/>
    <dgm:cxn modelId="{78E376B7-0C74-BE4B-B7FF-FD2E158A6939}" type="presParOf" srcId="{D845239D-2CFB-3B43-8393-CFA2EE683AD6}" destId="{559E4D10-3B16-304D-9C3E-450C4C739F02}" srcOrd="1" destOrd="0" presId="urn:microsoft.com/office/officeart/2008/layout/LinedList"/>
    <dgm:cxn modelId="{12EF7AF6-77BA-A94F-83E9-94DCB25EA647}" type="presParOf" srcId="{2AEA2745-E1B2-3A47-9F02-7F521AAFDF2B}" destId="{C87A41C2-671B-FB45-B683-4E537E7000AF}" srcOrd="8" destOrd="0" presId="urn:microsoft.com/office/officeart/2008/layout/LinedList"/>
    <dgm:cxn modelId="{F7929714-1434-7048-A680-993DC3431B46}" type="presParOf" srcId="{2AEA2745-E1B2-3A47-9F02-7F521AAFDF2B}" destId="{3EEE487D-A6F4-D240-BC1F-76FAAE9ABD7C}" srcOrd="9" destOrd="0" presId="urn:microsoft.com/office/officeart/2008/layout/LinedList"/>
    <dgm:cxn modelId="{76EE99B3-833F-574B-8D3C-26EDDF6A3BAE}" type="presParOf" srcId="{3EEE487D-A6F4-D240-BC1F-76FAAE9ABD7C}" destId="{9BB5AE2A-E23A-574F-A75E-54646ED81F71}" srcOrd="0" destOrd="0" presId="urn:microsoft.com/office/officeart/2008/layout/LinedList"/>
    <dgm:cxn modelId="{E08BE011-DB6A-7349-91F7-324E2AFCAE82}" type="presParOf" srcId="{3EEE487D-A6F4-D240-BC1F-76FAAE9ABD7C}" destId="{89093E63-A6A2-164A-A707-07D187E4F24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3FCA24-009E-3443-934A-9682C0D5C61B}">
      <dsp:nvSpPr>
        <dsp:cNvPr id="0" name=""/>
        <dsp:cNvSpPr/>
      </dsp:nvSpPr>
      <dsp:spPr>
        <a:xfrm>
          <a:off x="1283" y="47769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02D36F-5B82-3546-B869-E7B2D34DE1BD}">
      <dsp:nvSpPr>
        <dsp:cNvPr id="0" name=""/>
        <dsp:cNvSpPr/>
      </dsp:nvSpPr>
      <dsp:spPr>
        <a:xfrm>
          <a:off x="501904" y="523358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/>
            <a:t>"Data! Data! Data!" he cried impatiently. "I can't make bricks without clay."</a:t>
          </a:r>
          <a:endParaRPr lang="en-US" sz="3700" kern="1200"/>
        </a:p>
      </dsp:txBody>
      <dsp:txXfrm>
        <a:off x="585701" y="607155"/>
        <a:ext cx="4337991" cy="2693452"/>
      </dsp:txXfrm>
    </dsp:sp>
    <dsp:sp modelId="{F0D864FA-4311-E94F-9DCF-76B6BCAB182B}">
      <dsp:nvSpPr>
        <dsp:cNvPr id="0" name=""/>
        <dsp:cNvSpPr/>
      </dsp:nvSpPr>
      <dsp:spPr>
        <a:xfrm>
          <a:off x="5508110" y="47769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5AA6B3-82A7-B54E-930F-DC2C5750CB88}">
      <dsp:nvSpPr>
        <dsp:cNvPr id="0" name=""/>
        <dsp:cNvSpPr/>
      </dsp:nvSpPr>
      <dsp:spPr>
        <a:xfrm>
          <a:off x="6008730" y="523358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/>
            <a:t>– Sherlock Holmes, in The Adventure of the Copper Beeches</a:t>
          </a:r>
          <a:r>
            <a:rPr lang="en-US" sz="3700" kern="1200"/>
            <a:t> </a:t>
          </a:r>
        </a:p>
      </dsp:txBody>
      <dsp:txXfrm>
        <a:off x="6092527" y="607155"/>
        <a:ext cx="4337991" cy="26934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E52033-DF69-2149-AD01-4BE91079CB29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050C9-62C3-3F4B-826D-BBA166C6F9A0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Python has data types; the types are linked  to the objects themselves.</a:t>
          </a:r>
        </a:p>
      </dsp:txBody>
      <dsp:txXfrm>
        <a:off x="0" y="531"/>
        <a:ext cx="10515600" cy="870055"/>
      </dsp:txXfrm>
    </dsp:sp>
    <dsp:sp modelId="{6CE568C2-DC9D-CA43-8A35-CE58DD66D8BC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50E81D-329C-B549-9C18-637653B9C2A7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Every entity has metadata (called attributes) and associated functionality (called methods). </a:t>
          </a:r>
        </a:p>
      </dsp:txBody>
      <dsp:txXfrm>
        <a:off x="0" y="870586"/>
        <a:ext cx="10515600" cy="870055"/>
      </dsp:txXfrm>
    </dsp:sp>
    <dsp:sp modelId="{A1B9FA6D-4FD2-BB4A-B3FF-7D62D1EE07EA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86F00-7CD3-8341-ADBD-01265EEC2CF5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 attributes and methods are accessed via the dot syntax.</a:t>
          </a:r>
        </a:p>
      </dsp:txBody>
      <dsp:txXfrm>
        <a:off x="0" y="1740641"/>
        <a:ext cx="10515600" cy="870055"/>
      </dsp:txXfrm>
    </dsp:sp>
    <dsp:sp modelId="{6EB22D20-78B5-F14F-8301-1B0A9F9E3C76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84D627-5A7C-F842-9EB4-0D99423301EF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Such as </a:t>
          </a:r>
          <a:r>
            <a:rPr lang="en-US" sz="2400" kern="1200">
              <a:solidFill>
                <a:srgbClr val="00FF00"/>
              </a:solidFill>
            </a:rPr>
            <a:t>x = 5    </a:t>
          </a:r>
          <a:r>
            <a:rPr lang="en-US" sz="2400" kern="1200" err="1">
              <a:solidFill>
                <a:srgbClr val="00FF00"/>
              </a:solidFill>
            </a:rPr>
            <a:t>x.append</a:t>
          </a:r>
          <a:endParaRPr lang="en-US" sz="2400" kern="1200">
            <a:solidFill>
              <a:srgbClr val="00FF00"/>
            </a:solidFill>
          </a:endParaRPr>
        </a:p>
      </dsp:txBody>
      <dsp:txXfrm>
        <a:off x="0" y="2610696"/>
        <a:ext cx="10515600" cy="870055"/>
      </dsp:txXfrm>
    </dsp:sp>
    <dsp:sp modelId="{C87A41C2-671B-FB45-B683-4E537E7000AF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B5AE2A-E23A-574F-A75E-54646ED81F71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Check some data types:</a:t>
          </a:r>
        </a:p>
      </dsp:txBody>
      <dsp:txXfrm>
        <a:off x="0" y="3480751"/>
        <a:ext cx="10515600" cy="8700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EF823-48A5-43FC-BE03-E79964288B4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6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16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60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148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82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15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75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46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2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99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26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4072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keyboard with blue lights&#10;&#10;Description automatically generated">
            <a:extLst>
              <a:ext uri="{FF2B5EF4-FFF2-40B4-BE49-F238E27FC236}">
                <a16:creationId xmlns:a16="http://schemas.microsoft.com/office/drawing/2014/main" id="{1E92C34C-2940-78F3-0790-63CCBD8CB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aphic 7" descr="Snake with solid fill">
            <a:extLst>
              <a:ext uri="{FF2B5EF4-FFF2-40B4-BE49-F238E27FC236}">
                <a16:creationId xmlns:a16="http://schemas.microsoft.com/office/drawing/2014/main" id="{5E434197-F443-2775-0B17-D1CD315748A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4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5425538">
            <a:off x="9391415" y="260751"/>
            <a:ext cx="2548172" cy="254817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D58DC23-F8A8-3625-1F97-44FA6AB63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6542" y="1433384"/>
            <a:ext cx="7558915" cy="1636290"/>
          </a:xfrm>
          <a:effectLst>
            <a:outerShdw blurRad="177557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2FABED"/>
                </a:solidFill>
                <a:effectLst>
                  <a:outerShdw blurRad="118228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Data types and Structures</a:t>
            </a:r>
          </a:p>
        </p:txBody>
      </p:sp>
    </p:spTree>
    <p:extLst>
      <p:ext uri="{BB962C8B-B14F-4D97-AF65-F5344CB8AC3E}">
        <p14:creationId xmlns:p14="http://schemas.microsoft.com/office/powerpoint/2010/main" val="4156268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DE98D-496E-EC73-8193-D2FF1741A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3700"/>
              <a:t>Running a Python Program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38236-8658-192C-2C6D-3AFA24200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554480"/>
          </a:xfrm>
        </p:spPr>
        <p:txBody>
          <a:bodyPr anchor="ctr">
            <a:normAutofit fontScale="92500" lnSpcReduction="10000"/>
          </a:bodyPr>
          <a:lstStyle/>
          <a:p>
            <a:r>
              <a:rPr lang="en-US" altLang="en-US" sz="1900">
                <a:ea typeface="ＭＳ Ｐゴシック" panose="020B0600070205080204" pitchFamily="34" charset="-128"/>
              </a:rPr>
              <a:t>The compiler generates byte code instructions (instructions for the Python Virtual machine)</a:t>
            </a:r>
          </a:p>
          <a:p>
            <a:pPr lvl="1"/>
            <a:r>
              <a:rPr lang="en-US" altLang="en-US" sz="1900">
                <a:ea typeface="ＭＳ Ｐゴシック" panose="020B0600070205080204" pitchFamily="34" charset="-128"/>
              </a:rPr>
              <a:t>The Virtual machine is a program that is similar to the CPU of your computer</a:t>
            </a:r>
          </a:p>
          <a:p>
            <a:pPr lvl="1"/>
            <a:r>
              <a:rPr lang="en-US" altLang="en-US" sz="1900">
                <a:ea typeface="ＭＳ Ｐゴシック" panose="020B0600070205080204" pitchFamily="34" charset="-128"/>
              </a:rPr>
              <a:t>Any necessary libraries (e.g. for drawing graphics) are automatically located and included by the virtual machine</a:t>
            </a:r>
          </a:p>
          <a:p>
            <a:endParaRPr lang="en-US" sz="1500"/>
          </a:p>
        </p:txBody>
      </p:sp>
      <p:pic>
        <p:nvPicPr>
          <p:cNvPr id="4" name="Picture 7" descr="U:\PC\publisher\2013 wiley slides\Ch 1-4\Chapter  1\Media\Illustrations\py_01_07_300dpi.jpg">
            <a:extLst>
              <a:ext uri="{FF2B5EF4-FFF2-40B4-BE49-F238E27FC236}">
                <a16:creationId xmlns:a16="http://schemas.microsoft.com/office/drawing/2014/main" id="{786137A7-92AC-3921-9A33-1E3B96B75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280" y="2290936"/>
            <a:ext cx="10351247" cy="3959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5411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9BB882-4B7A-E632-2514-46C78BA89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Python Interactive Shell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C0919-6F4A-BDDC-429E-D646424BB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altLang="en-US" sz="2000" dirty="0">
                <a:ea typeface="ＭＳ Ｐゴシック" panose="020B0600070205080204" pitchFamily="34" charset="-128"/>
              </a:rPr>
              <a:t>Write/save a complete Python program in a file and let the Python interpreter execute the instructions all at once.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Or run instructions one at a time using interactive mode.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It allows quick ‘test programs’ to be written.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Interactive mode can be started typing ‘python’ at the 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cmd</a:t>
            </a:r>
            <a:r>
              <a:rPr lang="en-US" altLang="en-US" sz="2000" dirty="0">
                <a:ea typeface="ＭＳ Ｐゴシック" panose="020B0600070205080204" pitchFamily="34" charset="-128"/>
              </a:rPr>
              <a:t> prompt.</a:t>
            </a:r>
          </a:p>
          <a:p>
            <a:endParaRPr lang="en-US" sz="2000" dirty="0"/>
          </a:p>
        </p:txBody>
      </p:sp>
      <p:pic>
        <p:nvPicPr>
          <p:cNvPr id="4" name="Picture 2" descr="How to Run a Python Script - GeeksforGeeks">
            <a:extLst>
              <a:ext uri="{FF2B5EF4-FFF2-40B4-BE49-F238E27FC236}">
                <a16:creationId xmlns:a16="http://schemas.microsoft.com/office/drawing/2014/main" id="{3946CFB7-0705-8677-1227-4240F25A6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44804" y="3241519"/>
            <a:ext cx="5897895" cy="2477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How to Run a Python Script - GeeksforGeeks">
            <a:extLst>
              <a:ext uri="{FF2B5EF4-FFF2-40B4-BE49-F238E27FC236}">
                <a16:creationId xmlns:a16="http://schemas.microsoft.com/office/drawing/2014/main" id="{60A86C68-3120-D2CB-6D55-CB129FB134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577" r="95474" b="26682"/>
          <a:stretch/>
        </p:blipFill>
        <p:spPr bwMode="auto">
          <a:xfrm>
            <a:off x="8299016" y="2682200"/>
            <a:ext cx="589469" cy="423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261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79537A5A-BB74-5AD9-CFED-B8BF0D1B6A4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892175"/>
          <a:ext cx="10515600" cy="3432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405848B-E19A-A7D9-8A50-C36BEE56FDFC}"/>
              </a:ext>
            </a:extLst>
          </p:cNvPr>
          <p:cNvSpPr txBox="1">
            <a:spLocks/>
          </p:cNvSpPr>
          <p:nvPr/>
        </p:nvSpPr>
        <p:spPr>
          <a:xfrm>
            <a:off x="609600" y="4460081"/>
            <a:ext cx="10515600" cy="1566863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  <a:outerShdw blurRad="50800" dist="50800" dir="5400000" algn="ctr" rotWithShape="0">
              <a:srgbClr val="000000"/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800" spc="-5">
                <a:solidFill>
                  <a:schemeClr val="accent1">
                    <a:lumMod val="20000"/>
                    <a:lumOff val="80000"/>
                  </a:schemeClr>
                </a:solidFill>
                <a:latin typeface="Bradley Hand" pitchFamily="2" charset="77"/>
                <a:ea typeface="Times New Roman" panose="02020603050405020304" pitchFamily="18" charset="0"/>
              </a:rPr>
              <a:t>Everything you do with a computer is managing data.</a:t>
            </a:r>
            <a:endParaRPr lang="en-US" sz="4800">
              <a:solidFill>
                <a:schemeClr val="accent1">
                  <a:lumMod val="20000"/>
                  <a:lumOff val="8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1095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A4560-D97B-214D-5998-5F01D7D17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 vs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37E91-EDF9-D4CE-AE96-7C5091EC0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Variables are best thought of as containers or buckets into which you put data</a:t>
            </a:r>
          </a:p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 code</a:t>
            </a:r>
          </a:p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x = 4;</a:t>
            </a:r>
          </a:p>
          <a:p>
            <a:endParaRPr lang="en-US"/>
          </a:p>
          <a:p>
            <a:r>
              <a:rPr lang="en-US"/>
              <a:t>In Python you are defining a variable in a namespace named x that points to some other bucket containing the value 4. This is not a C pointer.</a:t>
            </a:r>
          </a:p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python code</a:t>
            </a:r>
          </a:p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4</a:t>
            </a:r>
          </a:p>
        </p:txBody>
      </p:sp>
    </p:spTree>
    <p:extLst>
      <p:ext uri="{BB962C8B-B14F-4D97-AF65-F5344CB8AC3E}">
        <p14:creationId xmlns:p14="http://schemas.microsoft.com/office/powerpoint/2010/main" val="2398464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FC4EB-B3E1-E4EE-5BF1-345212618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Data Model = </a:t>
            </a:r>
            <a:r>
              <a:rPr lang="en-US" b="1" i="1" dirty="0">
                <a:solidFill>
                  <a:srgbClr val="2FABED"/>
                </a:solidFill>
              </a:rPr>
              <a:t>Everything an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CBF3B-E648-8C10-65CB-FE1C2A40A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69062" cy="2066437"/>
          </a:xfrm>
        </p:spPr>
        <p:txBody>
          <a:bodyPr/>
          <a:lstStyle/>
          <a:p>
            <a:r>
              <a:rPr lang="en-US" dirty="0"/>
              <a:t>Objects are </a:t>
            </a:r>
            <a:r>
              <a:rPr lang="en-US"/>
              <a:t>Python’s abstraction </a:t>
            </a:r>
            <a:r>
              <a:rPr lang="en-US" dirty="0"/>
              <a:t>for data</a:t>
            </a:r>
          </a:p>
          <a:p>
            <a:r>
              <a:rPr lang="en-US" dirty="0"/>
              <a:t>All data in a Python program is represented by objects or by relations between objects</a:t>
            </a:r>
          </a:p>
          <a:p>
            <a:r>
              <a:rPr lang="en-US" dirty="0"/>
              <a:t>Two main features of objects are they have properties and methods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B48A1F4-5E9A-1735-7EAD-F437654D6372}"/>
              </a:ext>
            </a:extLst>
          </p:cNvPr>
          <p:cNvSpPr txBox="1">
            <a:spLocks/>
          </p:cNvSpPr>
          <p:nvPr/>
        </p:nvSpPr>
        <p:spPr>
          <a:xfrm>
            <a:off x="911469" y="4514286"/>
            <a:ext cx="10369062" cy="2066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Object: chicken</a:t>
            </a:r>
          </a:p>
          <a:p>
            <a:r>
              <a:rPr lang="en-US" dirty="0"/>
              <a:t>Property: white (color)  </a:t>
            </a:r>
            <a:r>
              <a:rPr lang="en-US" dirty="0">
                <a:solidFill>
                  <a:srgbClr val="2FABED"/>
                </a:solidFill>
                <a:sym typeface="Wingdings" pitchFamily="2" charset="2"/>
              </a:rPr>
              <a:t> characteristic of object</a:t>
            </a:r>
            <a:endParaRPr lang="en-US" dirty="0">
              <a:solidFill>
                <a:srgbClr val="2FABED"/>
              </a:solidFill>
            </a:endParaRPr>
          </a:p>
          <a:p>
            <a:r>
              <a:rPr lang="en-US" dirty="0"/>
              <a:t>Method: clucks </a:t>
            </a:r>
            <a:r>
              <a:rPr lang="en-US" dirty="0">
                <a:solidFill>
                  <a:srgbClr val="2FABED"/>
                </a:solidFill>
                <a:sym typeface="Wingdings" pitchFamily="2" charset="2"/>
              </a:rPr>
              <a:t> things the object can do</a:t>
            </a:r>
            <a:endParaRPr lang="en-US" dirty="0">
              <a:solidFill>
                <a:srgbClr val="2FABE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C6D7D4-0BBA-71F8-631A-4D2BA48839CE}"/>
              </a:ext>
            </a:extLst>
          </p:cNvPr>
          <p:cNvSpPr txBox="1"/>
          <p:nvPr/>
        </p:nvSpPr>
        <p:spPr>
          <a:xfrm rot="1177257">
            <a:off x="4710044" y="4088435"/>
            <a:ext cx="27719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  <a:latin typeface="Bradley Hand" pitchFamily="2" charset="77"/>
              </a:rPr>
              <a:t>Objects get IDs</a:t>
            </a:r>
          </a:p>
        </p:txBody>
      </p:sp>
    </p:spTree>
    <p:extLst>
      <p:ext uri="{BB962C8B-B14F-4D97-AF65-F5344CB8AC3E}">
        <p14:creationId xmlns:p14="http://schemas.microsoft.com/office/powerpoint/2010/main" val="3546212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0DCC7-AC95-D617-C521-02735B245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Everything is an object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85BC44A-C933-5023-54B5-E3A36070E3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505763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CF102E7-5596-45BB-7E68-0CC7FF0E26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9785" y="5341936"/>
            <a:ext cx="2235130" cy="46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963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B4809-834D-2359-F4B2-B9D360BB5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Immuatable</a:t>
            </a:r>
            <a:r>
              <a:rPr lang="en-US"/>
              <a:t> – the value cannot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27060-9131-E911-8DD1-2CF1D453C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age = 42</a:t>
            </a:r>
          </a:p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age</a:t>
            </a:r>
          </a:p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42</a:t>
            </a:r>
          </a:p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age = 43  #A</a:t>
            </a:r>
          </a:p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age</a:t>
            </a:r>
          </a:p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D90EAF-A575-6CE2-19E4-231015901A7F}"/>
              </a:ext>
            </a:extLst>
          </p:cNvPr>
          <p:cNvSpPr txBox="1"/>
          <p:nvPr/>
        </p:nvSpPr>
        <p:spPr>
          <a:xfrm rot="20550404">
            <a:off x="2895601" y="3570406"/>
            <a:ext cx="404790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FF0000"/>
                </a:solidFill>
                <a:latin typeface="Bradley Hand" pitchFamily="2" charset="77"/>
              </a:rPr>
              <a:t>Did the value change?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961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F0F4-05E4-3CDA-EA40-EBE54ACC6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Really Immutable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A298B-F36C-3B55-C77C-E3BF2C876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age = 42</a:t>
            </a:r>
          </a:p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id(age)</a:t>
            </a:r>
          </a:p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4377553168</a:t>
            </a:r>
          </a:p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age = 43</a:t>
            </a:r>
          </a:p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id(age)</a:t>
            </a:r>
          </a:p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4377553200</a:t>
            </a:r>
          </a:p>
          <a:p>
            <a:pPr marL="0" indent="0">
              <a:buNone/>
            </a:pPr>
            <a:r>
              <a:rPr lang="en-US">
                <a:cs typeface="Consolas" panose="020B0609020204030204" pitchFamily="49" charset="0"/>
              </a:rPr>
              <a:t>What do you get with </a:t>
            </a: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id(43)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728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4BD64-6690-FAB3-D4E8-744481BE2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Integers as immutable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D6FC5-B580-BAAB-5FC9-2587DE3E1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Python integers have an unlimited range, subject only to the available virtual memory. </a:t>
            </a:r>
          </a:p>
          <a:p>
            <a:r>
              <a:rPr lang="en-US"/>
              <a:t>Integer numbers can be positive, negative, or 0 (zero). </a:t>
            </a:r>
          </a:p>
          <a:p>
            <a:r>
              <a:rPr lang="en-US"/>
              <a:t>truncate a number to an integer, </a:t>
            </a:r>
          </a:p>
          <a:p>
            <a:pPr marL="0" indent="0">
              <a:buNone/>
            </a:pPr>
            <a:r>
              <a:rPr lang="en-US"/>
              <a:t> you can use the built-in int() function</a:t>
            </a:r>
          </a:p>
          <a:p>
            <a:r>
              <a:rPr lang="en-US"/>
              <a:t>Notice that the truncation is done</a:t>
            </a:r>
          </a:p>
          <a:p>
            <a:pPr marL="0" indent="0">
              <a:buNone/>
            </a:pPr>
            <a:r>
              <a:rPr lang="en-US"/>
              <a:t> toward 0.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FA159D-454C-E5E1-54CD-70EE5A1A2E72}"/>
              </a:ext>
            </a:extLst>
          </p:cNvPr>
          <p:cNvSpPr txBox="1"/>
          <p:nvPr/>
        </p:nvSpPr>
        <p:spPr>
          <a:xfrm rot="521621">
            <a:off x="6934200" y="3314642"/>
            <a:ext cx="3924300" cy="3139321"/>
          </a:xfrm>
          <a:prstGeom prst="rect">
            <a:avLst/>
          </a:prstGeom>
          <a:noFill/>
          <a:ln>
            <a:solidFill>
              <a:srgbClr val="2FABED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 = 14</a:t>
            </a:r>
          </a:p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b = 3</a:t>
            </a:r>
          </a:p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 + b  # addition</a:t>
            </a:r>
          </a:p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17</a:t>
            </a:r>
          </a:p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 * b  # multiplication</a:t>
            </a:r>
          </a:p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int(1.75)</a:t>
            </a:r>
          </a:p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int(-1.75)</a:t>
            </a:r>
          </a:p>
          <a:p>
            <a:pPr marL="0" indent="0">
              <a:buNone/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int('10110', base=2)</a:t>
            </a:r>
          </a:p>
          <a:p>
            <a:pPr marL="0" indent="0">
              <a:buNone/>
            </a:pPr>
            <a:endParaRPr lang="en-US">
              <a:solidFill>
                <a:srgbClr val="00FF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570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714CD-E5E9-7B43-9BB2-55612D57B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onsolas" panose="020B0609020204030204" pitchFamily="49" charset="0"/>
              </a:rPr>
              <a:t>Boolean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8A337-2E5C-7AA4-AD99-35121425F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775"/>
            <a:ext cx="4819650" cy="4351338"/>
          </a:xfrm>
        </p:spPr>
        <p:txBody>
          <a:bodyPr>
            <a:normAutofit lnSpcReduction="10000"/>
          </a:bodyPr>
          <a:lstStyle/>
          <a:p>
            <a:r>
              <a:rPr lang="en-US">
                <a:cs typeface="Consolas" panose="020B0609020204030204" pitchFamily="49" charset="0"/>
              </a:rPr>
              <a:t>True and False are two keywords that are used to represent truth values. Booleans are a subclass of integers, so True and False behave respectively like 1    and 0.</a:t>
            </a:r>
          </a:p>
          <a:p>
            <a:r>
              <a:rPr lang="en-US">
                <a:cs typeface="Consolas" panose="020B0609020204030204" pitchFamily="49" charset="0"/>
              </a:rPr>
              <a:t>Boolean values can be combined in Boolean expressions using the logical operators and, or, and not.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FD797-21F1-CE2F-0138-6033A8C95EA9}"/>
              </a:ext>
            </a:extLst>
          </p:cNvPr>
          <p:cNvSpPr txBox="1"/>
          <p:nvPr/>
        </p:nvSpPr>
        <p:spPr>
          <a:xfrm>
            <a:off x="5657850" y="612844"/>
            <a:ext cx="6096000" cy="5632311"/>
          </a:xfrm>
          <a:prstGeom prst="rect">
            <a:avLst/>
          </a:prstGeom>
          <a:noFill/>
          <a:ln>
            <a:solidFill>
              <a:srgbClr val="2FABED"/>
            </a:solidFill>
          </a:ln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int(True)  # True behaves like 1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int(False)  # False behaves like 0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bool(1)  # 1 evaluates to True in a Boolean context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bool(-42)  # and so does every non-zero number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bool(0)  # 0 evaluates to False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not True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not False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True and True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False or True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824150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B2D082-BE7B-506A-2420-4D5B7D1BC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2860444"/>
            <a:ext cx="9471956" cy="1137111"/>
          </a:xfrm>
        </p:spPr>
        <p:txBody>
          <a:bodyPr>
            <a:normAutofit/>
          </a:bodyPr>
          <a:lstStyle/>
          <a:p>
            <a:r>
              <a:rPr lang="en-US" sz="5400"/>
              <a:t>Floating point numbers</a:t>
            </a:r>
          </a:p>
        </p:txBody>
      </p:sp>
      <p:pic>
        <p:nvPicPr>
          <p:cNvPr id="4" name="Picture 3" descr="A number with green numbers&#10;&#10;Description automatically generated with medium confidence">
            <a:extLst>
              <a:ext uri="{FF2B5EF4-FFF2-40B4-BE49-F238E27FC236}">
                <a16:creationId xmlns:a16="http://schemas.microsoft.com/office/drawing/2014/main" id="{DBB81A49-5531-3417-5FBD-90859E42A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4" y="1364750"/>
            <a:ext cx="7745969" cy="168390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4CFDC-88CE-2109-8315-BF6157D4B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3997555"/>
            <a:ext cx="8749641" cy="2023610"/>
          </a:xfrm>
        </p:spPr>
        <p:txBody>
          <a:bodyPr anchor="t">
            <a:noAutofit/>
          </a:bodyPr>
          <a:lstStyle/>
          <a:p>
            <a:r>
              <a:rPr lang="en-US" sz="2200"/>
              <a:t>Floating point numbers are according to the IEEE 754 double-precision binary floating point format, which is stored in 64 bits of information divided into three sections: sign, exponent, and mantissa.</a:t>
            </a:r>
          </a:p>
          <a:p>
            <a:r>
              <a:rPr lang="en-US" sz="2200"/>
              <a:t>Similar to Double precision in other languages</a:t>
            </a:r>
          </a:p>
          <a:p>
            <a:r>
              <a:rPr lang="en-US" sz="2200"/>
              <a:t>Numbers suffer from approximation issues with simple values</a:t>
            </a:r>
          </a:p>
        </p:txBody>
      </p:sp>
    </p:spTree>
    <p:extLst>
      <p:ext uri="{BB962C8B-B14F-4D97-AF65-F5344CB8AC3E}">
        <p14:creationId xmlns:p14="http://schemas.microsoft.com/office/powerpoint/2010/main" val="1138025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0">
            <a:extLst>
              <a:ext uri="{FF2B5EF4-FFF2-40B4-BE49-F238E27FC236}">
                <a16:creationId xmlns:a16="http://schemas.microsoft.com/office/drawing/2014/main" id="{7024687B-3153-123C-0A8C-D7D007FAF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6305F5-7509-0BF5-12D3-30451FCD7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1C5C7A-6D55-5B27-646E-39C962693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B3B1F4-948C-963C-E6EA-60CF7FBF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DCE2E4B-B8E9-2436-9D31-3A0DF81B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F942-AEB8-92B1-8B61-84B5F803C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661" y="2308124"/>
            <a:ext cx="5318376" cy="3673576"/>
          </a:xfrm>
        </p:spPr>
        <p:txBody>
          <a:bodyPr>
            <a:normAutofit lnSpcReduction="10000"/>
          </a:bodyPr>
          <a:lstStyle/>
          <a:p>
            <a:r>
              <a:rPr lang="en-US" sz="2200"/>
              <a:t>The decimal module provides support for fast correctly rounded decimal floating point arithmetic</a:t>
            </a:r>
          </a:p>
          <a:p>
            <a:r>
              <a:rPr lang="en-US" sz="2200"/>
              <a:t>Decimal “is based on a floating-point model which was designed with people in mind</a:t>
            </a:r>
          </a:p>
          <a:p>
            <a:r>
              <a:rPr lang="en-US" sz="2200"/>
              <a:t>Arbitrary precision decimal numbers come at a price in terms of performance</a:t>
            </a:r>
          </a:p>
          <a:p>
            <a:r>
              <a:rPr lang="en-US" sz="2200"/>
              <a:t>Unlike hardware based binary floating point, the decimal module has a user alterable precision (defaulting to 28 places)</a:t>
            </a:r>
          </a:p>
          <a:p>
            <a:endParaRPr lang="en-US" sz="2000"/>
          </a:p>
        </p:txBody>
      </p:sp>
      <p:pic>
        <p:nvPicPr>
          <p:cNvPr id="6" name="Picture 5" descr="A black background with green text&#10;&#10;Description automatically generated">
            <a:extLst>
              <a:ext uri="{FF2B5EF4-FFF2-40B4-BE49-F238E27FC236}">
                <a16:creationId xmlns:a16="http://schemas.microsoft.com/office/drawing/2014/main" id="{3BF874E5-7AD5-600F-5B13-2C6631D75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510" y="3267665"/>
            <a:ext cx="5799985" cy="1754494"/>
          </a:xfrm>
          <a:prstGeom prst="rect">
            <a:avLst/>
          </a:prstGeom>
          <a:ln>
            <a:solidFill>
              <a:srgbClr val="2FABED"/>
            </a:solidFill>
          </a:ln>
        </p:spPr>
      </p:pic>
    </p:spTree>
    <p:extLst>
      <p:ext uri="{BB962C8B-B14F-4D97-AF65-F5344CB8AC3E}">
        <p14:creationId xmlns:p14="http://schemas.microsoft.com/office/powerpoint/2010/main" val="1761010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45951-E4E8-5B22-2E94-13C51FBAC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Strings and Bytes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A9580-C489-FD91-8293-850FAEEEA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5128" cy="4351338"/>
          </a:xfrm>
        </p:spPr>
        <p:txBody>
          <a:bodyPr/>
          <a:lstStyle/>
          <a:p>
            <a:r>
              <a:rPr lang="en-US"/>
              <a:t>Textual data in Python is handled with str objects, more commonly known as strings</a:t>
            </a:r>
          </a:p>
          <a:p>
            <a:r>
              <a:rPr lang="en-US"/>
              <a:t>Strings are immutable sequences of Unicode code points such as characters or formatting</a:t>
            </a:r>
          </a:p>
          <a:p>
            <a:r>
              <a:rPr lang="en-US"/>
              <a:t>Written using single, double, or triple quotes (double)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7B7755-C631-3611-397A-5F6C8AFAC6F4}"/>
              </a:ext>
            </a:extLst>
          </p:cNvPr>
          <p:cNvSpPr txBox="1"/>
          <p:nvPr/>
        </p:nvSpPr>
        <p:spPr>
          <a:xfrm>
            <a:off x="6238674" y="175930"/>
            <a:ext cx="5726347" cy="6506140"/>
          </a:xfrm>
          <a:prstGeom prst="rect">
            <a:avLst/>
          </a:prstGeom>
          <a:noFill/>
          <a:ln>
            <a:solidFill>
              <a:srgbClr val="2FABED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str1 = 'This is a string.'</a:t>
            </a: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str2 = "This is also a string"</a:t>
            </a: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str3 = '''This is built with,</a:t>
            </a: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 so it can span multiple lines.'’’</a:t>
            </a:r>
          </a:p>
          <a:p>
            <a:pPr>
              <a:lnSpc>
                <a:spcPct val="150000"/>
              </a:lnSpc>
            </a:pPr>
            <a:endParaRPr lang="en-US" sz="2000">
              <a:solidFill>
                <a:srgbClr val="00FF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str4 = """This too</a:t>
            </a: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 is a multiline""”</a:t>
            </a:r>
          </a:p>
          <a:p>
            <a:pPr>
              <a:lnSpc>
                <a:spcPct val="150000"/>
              </a:lnSpc>
            </a:pPr>
            <a:endParaRPr lang="en-US" sz="2000">
              <a:solidFill>
                <a:srgbClr val="00FF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str4  #A</a:t>
            </a: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'This too\nis a multiline’</a:t>
            </a:r>
          </a:p>
          <a:p>
            <a:pPr>
              <a:lnSpc>
                <a:spcPct val="150000"/>
              </a:lnSpc>
            </a:pPr>
            <a:endParaRPr lang="en-US" sz="2000">
              <a:solidFill>
                <a:srgbClr val="00FF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print(str4) </a:t>
            </a: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 too</a:t>
            </a: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 a multiline</a:t>
            </a:r>
          </a:p>
        </p:txBody>
      </p:sp>
    </p:spTree>
    <p:extLst>
      <p:ext uri="{BB962C8B-B14F-4D97-AF65-F5344CB8AC3E}">
        <p14:creationId xmlns:p14="http://schemas.microsoft.com/office/powerpoint/2010/main" val="4045961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BD812A-5675-76B9-201D-EE3B790F0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4DDDD"/>
                </a:solidFill>
              </a:rPr>
              <a:t>PEP 8 Guidelines </a:t>
            </a:r>
            <a:br>
              <a:rPr lang="en-US" sz="4000">
                <a:solidFill>
                  <a:srgbClr val="F4DDDD"/>
                </a:solidFill>
              </a:rPr>
            </a:br>
            <a:r>
              <a:rPr lang="en-US" sz="4000">
                <a:solidFill>
                  <a:srgbClr val="F4DDDD"/>
                </a:solidFill>
              </a:rPr>
              <a:t>for string quotes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1CB70-96B0-7BAC-6A46-540166A73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2200">
                <a:solidFill>
                  <a:srgbClr val="F4DDDD"/>
                </a:solidFill>
                <a:latin typeface="American Typewriter" panose="02090604020004020304" pitchFamily="18" charset="77"/>
              </a:rPr>
              <a:t>In Python, single-quoted strings and double-quoted strings are the same. This PEP does not make a recommendation for this. Pick a rule and stick to it. When a string contains single or double quote characters, however, use the other one to avoid backslashes in the string. It improves readability.</a:t>
            </a:r>
          </a:p>
        </p:txBody>
      </p:sp>
      <p:pic>
        <p:nvPicPr>
          <p:cNvPr id="5" name="Picture 4" descr="Colourful knotted rope">
            <a:extLst>
              <a:ext uri="{FF2B5EF4-FFF2-40B4-BE49-F238E27FC236}">
                <a16:creationId xmlns:a16="http://schemas.microsoft.com/office/drawing/2014/main" id="{E04556AE-44E1-7901-AF90-44BF77D05A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785" r="26378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843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706FCE-64FA-A407-7DE4-E3E193BCA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Encoding and Decoding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511D0-2F0B-DDD5-6B82-022A9B0B8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200"/>
              <a:t>Using the encode/decode methods, we can encode Unicode strings and decode bytes objects. UTF-8 is a variable-length character encoding, capable of encoding all possible Unicode code points. It is the most widely used encoding for the web. </a:t>
            </a:r>
          </a:p>
          <a:p>
            <a:r>
              <a:rPr lang="en-US" sz="2200"/>
              <a:t>Notice that by adding the literal b in front of a string declaration, creates a bytes object: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83319E-C79D-38FA-1FDE-CBEA3316E6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524" b="1"/>
          <a:stretch/>
        </p:blipFill>
        <p:spPr>
          <a:xfrm>
            <a:off x="5911532" y="2484255"/>
            <a:ext cx="5150277" cy="3714244"/>
          </a:xfrm>
          <a:prstGeom prst="rect">
            <a:avLst/>
          </a:prstGeom>
          <a:ln>
            <a:solidFill>
              <a:srgbClr val="2FABED"/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394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C72F1-4F2C-FCE6-D0AD-A320FA71A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36C967C-046A-9124-0E7C-1014E12A0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9B18B-4C46-6A3E-5491-3BF5E574E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Fetching the last element in a collection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0022EE-93E0-8F50-D227-28FF111F4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40BEE2-8C60-F6D7-D590-4080D7DBA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E9A3C-D2F7-05D3-E8BB-557D5CD39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200" dirty="0"/>
              <a:t>What would the following result in?</a:t>
            </a:r>
          </a:p>
          <a:p>
            <a:r>
              <a:rPr lang="en-US" sz="2200" dirty="0"/>
              <a:t>Should the last line include -10 instead of -0 to retrieve the last character?</a:t>
            </a:r>
          </a:p>
          <a:p>
            <a:r>
              <a:rPr lang="en-US" sz="2200" dirty="0"/>
              <a:t>Which is a better choice to use: positive </a:t>
            </a:r>
            <a:r>
              <a:rPr lang="en-US" sz="2200"/>
              <a:t>indexing or negative indexing?</a:t>
            </a:r>
            <a:endParaRPr lang="en-US" sz="2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54F645-7619-A83E-FB94-6172DEA5B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0C70C5-3138-6B8D-6571-30AD1AAF3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088" y="3788651"/>
            <a:ext cx="4791744" cy="990738"/>
          </a:xfrm>
          <a:prstGeom prst="rect">
            <a:avLst/>
          </a:prstGeom>
          <a:ln>
            <a:solidFill>
              <a:srgbClr val="2FABED"/>
            </a:solidFill>
          </a:ln>
        </p:spPr>
      </p:pic>
    </p:spTree>
    <p:extLst>
      <p:ext uri="{BB962C8B-B14F-4D97-AF65-F5344CB8AC3E}">
        <p14:creationId xmlns:p14="http://schemas.microsoft.com/office/powerpoint/2010/main" val="3671499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4C4B-11E9-3929-06E3-488DA61B7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06174" cy="1325563"/>
          </a:xfrm>
        </p:spPr>
        <p:txBody>
          <a:bodyPr/>
          <a:lstStyle/>
          <a:p>
            <a:r>
              <a:rPr lang="en-US"/>
              <a:t>Indexing and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4C5C7-DC5A-5075-4727-3387F111F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79196" cy="4351338"/>
          </a:xfrm>
        </p:spPr>
        <p:txBody>
          <a:bodyPr/>
          <a:lstStyle/>
          <a:p>
            <a:r>
              <a:rPr lang="en-US"/>
              <a:t>Zero-based access to any position within the sequence via index</a:t>
            </a:r>
          </a:p>
          <a:p>
            <a:r>
              <a:rPr lang="en-US"/>
              <a:t>Specify the start and stop positions, along with the step</a:t>
            </a:r>
          </a:p>
          <a:p>
            <a:r>
              <a:rPr lang="en-US"/>
              <a:t>All the arguments are optional; start is inclusive, and stop is exclusive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0D018D-AA05-C306-F630-08EF2FAF001B}"/>
              </a:ext>
            </a:extLst>
          </p:cNvPr>
          <p:cNvSpPr txBox="1"/>
          <p:nvPr/>
        </p:nvSpPr>
        <p:spPr>
          <a:xfrm>
            <a:off x="4617396" y="565172"/>
            <a:ext cx="7308715" cy="5864811"/>
          </a:xfrm>
          <a:prstGeom prst="rect">
            <a:avLst/>
          </a:prstGeom>
          <a:noFill/>
          <a:ln>
            <a:solidFill>
              <a:srgbClr val="2FABED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s = "The trouble is you think you have time."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s[0]  # indexing at position 0  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'T'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s[5]  # indexing at position 5   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'r'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s[:4]  # slicing, only the stop position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'The '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s[4:]  # slicing, only the start position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'trouble is you think you have time.'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s[2:14]  # slicing, both start and stop  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'e trouble is'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s[2:14:3]  # start, stop and step (every 3 chars)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erb</a:t>
            </a: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‘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7774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 tmFilter="0,0; .5, 1; 1, 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 tmFilter="0,0; .5, 1; 1, 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 tmFilter="0,0; .5, 1; 1, 1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 tmFilter="0,0; .5, 1; 1, 1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 tmFilter="0,0; .5, 1; 1, 1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 tmFilter="0,0; .5, 1; 1, 1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 tmFilter="0,0; .5, 1; 1, 1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 tmFilter="0,0; .5, 1; 1, 1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 tmFilter="0,0; .5, 1; 1, 1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 tmFilter="0,0; .5, 1; 1, 1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244D5-B40C-9C19-7ED1-C92A81264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Tuples  are </a:t>
            </a:r>
            <a:r>
              <a:rPr lang="en-US"/>
              <a:t>immutable </a:t>
            </a:r>
            <a:endParaRPr lang="en-US" i="1" dirty="0">
              <a:solidFill>
                <a:srgbClr val="2FABED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8B134-DBE5-1108-F7FE-10C98AA1B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64540" cy="4351338"/>
          </a:xfrm>
        </p:spPr>
        <p:txBody>
          <a:bodyPr/>
          <a:lstStyle/>
          <a:p>
            <a:r>
              <a:rPr lang="en-US"/>
              <a:t>Sequence of arbitrary Python objects</a:t>
            </a:r>
          </a:p>
          <a:p>
            <a:r>
              <a:rPr lang="en-US"/>
              <a:t>Items are separated by commas</a:t>
            </a:r>
          </a:p>
          <a:p>
            <a:r>
              <a:rPr lang="en-US"/>
              <a:t>Can be used to allow a function to return multiple objects </a:t>
            </a:r>
          </a:p>
          <a:p>
            <a:r>
              <a:rPr lang="en-US"/>
              <a:t>Can print multiple elements with one single instruction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A9D734-14A1-686A-B76D-16FE68885EEF}"/>
              </a:ext>
            </a:extLst>
          </p:cNvPr>
          <p:cNvSpPr txBox="1"/>
          <p:nvPr/>
        </p:nvSpPr>
        <p:spPr>
          <a:xfrm>
            <a:off x="5038927" y="1905281"/>
            <a:ext cx="6977975" cy="3416320"/>
          </a:xfrm>
          <a:prstGeom prst="rect">
            <a:avLst/>
          </a:prstGeom>
          <a:noFill/>
          <a:ln>
            <a:solidFill>
              <a:srgbClr val="2FABED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t = ()  # empty tuple</a:t>
            </a:r>
          </a:p>
          <a:p>
            <a:r>
              <a:rPr lang="en-US" dirty="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type(t)</a:t>
            </a:r>
          </a:p>
          <a:p>
            <a:r>
              <a:rPr lang="en-US" dirty="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&lt;class 'tuple'&gt;</a:t>
            </a:r>
          </a:p>
          <a:p>
            <a:r>
              <a:rPr lang="en-US" dirty="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dirty="0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one_element_tuple</a:t>
            </a:r>
            <a:r>
              <a:rPr lang="en-US" dirty="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(42, )  # you need the comma!</a:t>
            </a:r>
          </a:p>
          <a:p>
            <a:r>
              <a:rPr lang="en-US" dirty="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dirty="0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three_elements_tuple</a:t>
            </a:r>
            <a:r>
              <a:rPr lang="en-US" dirty="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(1, 3, 5)  # Parentheses are optional </a:t>
            </a:r>
          </a:p>
          <a:p>
            <a:r>
              <a:rPr lang="en-US" dirty="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a, b, c = 1, 2, 3  # tuple for multiple assignment</a:t>
            </a:r>
          </a:p>
          <a:p>
            <a:r>
              <a:rPr lang="en-US" dirty="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a, b, c  # implicit tuple to print with one instruction</a:t>
            </a:r>
          </a:p>
          <a:p>
            <a:r>
              <a:rPr lang="en-US" dirty="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(1, 2, 3)</a:t>
            </a:r>
          </a:p>
          <a:p>
            <a:r>
              <a:rPr lang="en-US" dirty="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3 in </a:t>
            </a:r>
            <a:r>
              <a:rPr lang="en-US" dirty="0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three_elements_tuple</a:t>
            </a:r>
            <a:r>
              <a:rPr lang="en-US" dirty="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# membership test</a:t>
            </a:r>
          </a:p>
          <a:p>
            <a:r>
              <a:rPr lang="en-US" dirty="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329267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 tmFilter="0,0; .5, 1; 1, 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 tmFilter="0,0; .5, 1; 1, 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 tmFilter="0,0; .5, 1; 1, 1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 tmFilter="0,0; .5, 1; 1, 1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 tmFilter="0,0; .5, 1; 1, 1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 tmFilter="0,0; .5, 1; 1, 1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 tmFilter="0,0; .5, 1; 1, 1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BD764-9309-241E-5961-413F596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Lists are mutable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AC09C-E2DD-1A8A-CAB9-6E969BDEF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72319" cy="4351338"/>
          </a:xfrm>
        </p:spPr>
        <p:txBody>
          <a:bodyPr/>
          <a:lstStyle/>
          <a:p>
            <a:r>
              <a:rPr lang="en-US"/>
              <a:t>Used to store collections of objects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2DFDCB-8605-10AA-8C1A-1F0D4A84E2D0}"/>
              </a:ext>
            </a:extLst>
          </p:cNvPr>
          <p:cNvSpPr txBox="1"/>
          <p:nvPr/>
        </p:nvSpPr>
        <p:spPr>
          <a:xfrm>
            <a:off x="5831732" y="1690688"/>
            <a:ext cx="6099242" cy="3970318"/>
          </a:xfrm>
          <a:prstGeom prst="rect">
            <a:avLst/>
          </a:prstGeom>
          <a:noFill/>
          <a:ln>
            <a:solidFill>
              <a:srgbClr val="2FABED"/>
            </a:solidFill>
          </a:ln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[]  # empty list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[]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list()  # same as []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[]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[1, 2, 3]  # as with tuples, items are comma separated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[1, 2, 3]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[x + 5 for x in [2, 3, 4]]  # Python is magic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[7, 8, 9]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list((1, 3, 5, 7, 9))  # list from a tuple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[1, 3, 5, 7, 9]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list('hello')  # list from a string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['h', 'e', 'l', 'l', 'o']</a:t>
            </a:r>
          </a:p>
        </p:txBody>
      </p:sp>
    </p:spTree>
    <p:extLst>
      <p:ext uri="{BB962C8B-B14F-4D97-AF65-F5344CB8AC3E}">
        <p14:creationId xmlns:p14="http://schemas.microsoft.com/office/powerpoint/2010/main" val="3156876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0ECDE-A6B7-A6AE-CBE0-C21F92078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616" y="287306"/>
            <a:ext cx="7268183" cy="471454"/>
          </a:xfrm>
        </p:spPr>
        <p:txBody>
          <a:bodyPr>
            <a:normAutofit fontScale="90000"/>
          </a:bodyPr>
          <a:lstStyle/>
          <a:p>
            <a:r>
              <a:rPr lang="en-US"/>
              <a:t>Manipulating Lists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00D1E6-A18F-DB08-2941-46367C12BFA1}"/>
              </a:ext>
            </a:extLst>
          </p:cNvPr>
          <p:cNvSpPr txBox="1"/>
          <p:nvPr/>
        </p:nvSpPr>
        <p:spPr>
          <a:xfrm>
            <a:off x="6588868" y="836580"/>
            <a:ext cx="5290226" cy="5632311"/>
          </a:xfrm>
          <a:prstGeom prst="rect">
            <a:avLst/>
          </a:prstGeom>
          <a:noFill/>
          <a:ln>
            <a:solidFill>
              <a:srgbClr val="2FABED"/>
            </a:solidFill>
          </a:ln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a.pop</a:t>
            </a: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(3)  # pop element at position 3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[17, 1, 2, 3, 13, 5]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a.remove</a:t>
            </a: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(17)  # remove `17` from the list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[1, 2, 3, 13, 5]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a.reverse</a:t>
            </a: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 # reverse the order of the elements 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[5, 13, 3, 2, 1]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a.sort</a:t>
            </a: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 # sort the list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[1, 2, 3, 5, 13]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a.clear</a:t>
            </a: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 # remove all elements from the list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97AE2-3E0B-81E3-C792-75C521E2EB37}"/>
              </a:ext>
            </a:extLst>
          </p:cNvPr>
          <p:cNvSpPr txBox="1"/>
          <p:nvPr/>
        </p:nvSpPr>
        <p:spPr>
          <a:xfrm>
            <a:off x="312906" y="836580"/>
            <a:ext cx="5290226" cy="5909310"/>
          </a:xfrm>
          <a:prstGeom prst="rect">
            <a:avLst/>
          </a:prstGeom>
          <a:noFill/>
          <a:ln>
            <a:solidFill>
              <a:srgbClr val="2FABED"/>
            </a:solidFill>
          </a:ln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 = [1, 2, 1, 3]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a.append</a:t>
            </a: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(13)  # append anything at the end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[1, 2, 1, 3, 13]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a.count</a:t>
            </a: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(1)  # how many `1s` a in the list?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a.extend</a:t>
            </a: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([5, 7])  # extend by another (or seq)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[1, 2, 1, 3, 13, 5, 7]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a.index</a:t>
            </a: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(13)  # position of `13` 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a.insert</a:t>
            </a: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(0, 17)  # insert `17` at position 0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[17, 1, 2, 1, 3, 13, 5, 7]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a.pop</a:t>
            </a: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 # pop (remove and return) last element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4178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 tmFilter="0,0; .5, 1; 1, 1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 tmFilter="0,0; .5, 1; 1, 1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 tmFilter="0,0; .5, 1; 1, 1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 tmFilter="0,0; .5, 1; 1, 1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 tmFilter="0,0; .5, 1; 1, 1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 tmFilter="0,0; .5, 1; 1, 1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 tmFilter="0,0; .5, 1; 1, 1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 tmFilter="0,0; .5, 1; 1, 1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 tmFilter="0,0; .5, 1; 1, 1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 tmFilter="0,0; .5, 1; 1, 1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 tmFilter="0,0; .5, 1; 1, 1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 tmFilter="0,0; .5, 1; 1, 1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 tmFilter="0,0; .5, 1; 1, 1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1" presetClass="entr" presetSubtype="0" fill="hold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 tmFilter="0,0; .5, 1; 1, 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41" presetClass="entr" presetSubtype="0" fill="hold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 tmFilter="0,0; .5, 1; 1, 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41" presetClass="entr" presetSubtype="0" fill="hold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 tmFilter="0,0; .5, 1; 1, 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1" presetClass="entr" presetSubtype="0" fill="hold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 tmFilter="0,0; .5, 1; 1, 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41" presetClass="entr" presetSubtype="0" fill="hold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 tmFilter="0,0; .5, 1; 1, 1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41" presetClass="entr" presetSubtype="0" fill="hold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 tmFilter="0,0; .5, 1; 1, 1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41" presetClass="entr" presetSubtype="0" fill="hold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 tmFilter="0,0; .5, 1; 1, 1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41" presetClass="entr" presetSubtype="0" fill="hold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 tmFilter="0,0; .5, 1; 1, 1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1" presetClass="entr" presetSubtype="0" fill="hold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 tmFilter="0,0; .5, 1; 1, 1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41" presetClass="entr" presetSubtype="0" fill="hold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500" tmFilter="0,0; .5, 1; 1, 1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41" presetClass="entr" presetSubtype="0" fill="hold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500" tmFilter="0,0; .5, 1; 1, 1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41" presetClass="entr" presetSubtype="0" fill="hold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 tmFilter="0,0; .5, 1; 1, 1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41" presetClass="entr" presetSubtype="0" fill="hold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7" dur="500" tmFilter="0,0; .5, 1; 1, 1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1" presetClass="entr" presetSubtype="0" fill="hold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 tmFilter="0,0; .5, 1; 1, 1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41" presetClass="entr" presetSubtype="0" fill="hold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500" tmFilter="0,0; .5, 1; 1, 1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41" presetClass="entr" presetSubtype="0" fill="hold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8" dur="500" tmFilter="0,0; .5, 1; 1, 1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1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C524B2-353B-DBAF-6A17-0E657B71D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Other List methods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BB9567-0E4F-913C-CFCD-E3779C10FE21}"/>
              </a:ext>
            </a:extLst>
          </p:cNvPr>
          <p:cNvSpPr txBox="1"/>
          <p:nvPr/>
        </p:nvSpPr>
        <p:spPr>
          <a:xfrm>
            <a:off x="378181" y="1688619"/>
            <a:ext cx="700229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 = list('hello')  # makes a list from a string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['h', 'e', 'l', 'l', 'o']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a.append</a:t>
            </a: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(100)  # append 100, heterogeneous type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['h', 'e', 'l', 'l', 'o', 100]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a.extend</a:t>
            </a: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((1, 2, 3))  # extend using tuple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['h', 'e', 'l', 'l', 'o', 100, 1, 2, 3]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a.extend</a:t>
            </a: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('...')  # extend using string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['h', 'e', 'l', 'l', 'o', 100, 1, 2, 3, '.', '.', '.']</a:t>
            </a:r>
          </a:p>
        </p:txBody>
      </p:sp>
      <p:sp>
        <p:nvSpPr>
          <p:cNvPr id="11" name="Oval 15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lipboard Checked outline">
            <a:extLst>
              <a:ext uri="{FF2B5EF4-FFF2-40B4-BE49-F238E27FC236}">
                <a16:creationId xmlns:a16="http://schemas.microsoft.com/office/drawing/2014/main" id="{0EA618FD-6E9C-360F-393F-C78952262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248878">
            <a:off x="7663230" y="1191077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6690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944E337-3E5D-4A1F-A5A1-2057F25B8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A50D69-7CF7-4844-B844-A2B821C77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7854"/>
            <a:ext cx="12192000" cy="6865854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BD812A-5675-76B9-201D-EE3B790F0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1" y="601744"/>
            <a:ext cx="6781800" cy="1338696"/>
          </a:xfrm>
        </p:spPr>
        <p:txBody>
          <a:bodyPr>
            <a:normAutofit/>
          </a:bodyPr>
          <a:lstStyle/>
          <a:p>
            <a:r>
              <a:rPr lang="en-US"/>
              <a:t>PEP 8 Guidelines </a:t>
            </a:r>
            <a:br>
              <a:rPr lang="en-US"/>
            </a:br>
            <a:r>
              <a:rPr lang="en-US"/>
              <a:t>for naming</a:t>
            </a:r>
          </a:p>
        </p:txBody>
      </p:sp>
      <p:pic>
        <p:nvPicPr>
          <p:cNvPr id="11" name="Picture 10" descr="Sticky notes on a wall">
            <a:extLst>
              <a:ext uri="{FF2B5EF4-FFF2-40B4-BE49-F238E27FC236}">
                <a16:creationId xmlns:a16="http://schemas.microsoft.com/office/drawing/2014/main" id="{2E74B40A-2192-5AAD-ACF1-C654EF8DEA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775" r="31038" b="2"/>
          <a:stretch/>
        </p:blipFill>
        <p:spPr>
          <a:xfrm>
            <a:off x="20" y="10"/>
            <a:ext cx="3754739" cy="6857990"/>
          </a:xfrm>
          <a:custGeom>
            <a:avLst/>
            <a:gdLst/>
            <a:ahLst/>
            <a:cxnLst/>
            <a:rect l="l" t="t" r="r" b="b"/>
            <a:pathLst>
              <a:path w="3754759" h="6858000">
                <a:moveTo>
                  <a:pt x="0" y="0"/>
                </a:moveTo>
                <a:lnTo>
                  <a:pt x="3405358" y="0"/>
                </a:lnTo>
                <a:lnTo>
                  <a:pt x="3406298" y="5103"/>
                </a:lnTo>
                <a:cubicBezTo>
                  <a:pt x="3408705" y="9272"/>
                  <a:pt x="3410993" y="13534"/>
                  <a:pt x="3408744" y="22806"/>
                </a:cubicBezTo>
                <a:cubicBezTo>
                  <a:pt x="3398212" y="18869"/>
                  <a:pt x="3412504" y="58782"/>
                  <a:pt x="3403554" y="60481"/>
                </a:cubicBezTo>
                <a:cubicBezTo>
                  <a:pt x="3417198" y="75379"/>
                  <a:pt x="3401704" y="83956"/>
                  <a:pt x="3406685" y="104437"/>
                </a:cubicBezTo>
                <a:cubicBezTo>
                  <a:pt x="3412035" y="113935"/>
                  <a:pt x="3413215" y="120918"/>
                  <a:pt x="3408439" y="130745"/>
                </a:cubicBezTo>
                <a:cubicBezTo>
                  <a:pt x="3434362" y="174436"/>
                  <a:pt x="3410826" y="157826"/>
                  <a:pt x="3422002" y="199353"/>
                </a:cubicBezTo>
                <a:cubicBezTo>
                  <a:pt x="3433366" y="235046"/>
                  <a:pt x="3441595" y="275734"/>
                  <a:pt x="3466217" y="309590"/>
                </a:cubicBezTo>
                <a:cubicBezTo>
                  <a:pt x="3473022" y="315692"/>
                  <a:pt x="3476249" y="331335"/>
                  <a:pt x="3473425" y="344525"/>
                </a:cubicBezTo>
                <a:cubicBezTo>
                  <a:pt x="3472938" y="346792"/>
                  <a:pt x="3472286" y="348904"/>
                  <a:pt x="3471491" y="350788"/>
                </a:cubicBezTo>
                <a:cubicBezTo>
                  <a:pt x="3476473" y="380853"/>
                  <a:pt x="3497528" y="490678"/>
                  <a:pt x="3503314" y="524915"/>
                </a:cubicBezTo>
                <a:cubicBezTo>
                  <a:pt x="3495110" y="528110"/>
                  <a:pt x="3511009" y="544789"/>
                  <a:pt x="3506208" y="556205"/>
                </a:cubicBezTo>
                <a:cubicBezTo>
                  <a:pt x="3501906" y="564424"/>
                  <a:pt x="3505727" y="571402"/>
                  <a:pt x="3506503" y="579730"/>
                </a:cubicBezTo>
                <a:cubicBezTo>
                  <a:pt x="3503352" y="590904"/>
                  <a:pt x="3511763" y="626437"/>
                  <a:pt x="3516997" y="635552"/>
                </a:cubicBezTo>
                <a:cubicBezTo>
                  <a:pt x="3534688" y="657082"/>
                  <a:pt x="3524838" y="708447"/>
                  <a:pt x="3538464" y="726388"/>
                </a:cubicBezTo>
                <a:cubicBezTo>
                  <a:pt x="3540659" y="733032"/>
                  <a:pt x="3541735" y="739585"/>
                  <a:pt x="3542115" y="746049"/>
                </a:cubicBezTo>
                <a:lnTo>
                  <a:pt x="3541598" y="764218"/>
                </a:lnTo>
                <a:lnTo>
                  <a:pt x="3538294" y="769538"/>
                </a:lnTo>
                <a:lnTo>
                  <a:pt x="3539714" y="780556"/>
                </a:lnTo>
                <a:lnTo>
                  <a:pt x="3539328" y="783752"/>
                </a:lnTo>
                <a:cubicBezTo>
                  <a:pt x="3538575" y="789859"/>
                  <a:pt x="3537953" y="795880"/>
                  <a:pt x="3537882" y="801812"/>
                </a:cubicBezTo>
                <a:cubicBezTo>
                  <a:pt x="3555332" y="793164"/>
                  <a:pt x="3540143" y="850853"/>
                  <a:pt x="3553763" y="833773"/>
                </a:cubicBezTo>
                <a:cubicBezTo>
                  <a:pt x="3556400" y="864868"/>
                  <a:pt x="3568671" y="840452"/>
                  <a:pt x="3557696" y="878520"/>
                </a:cubicBezTo>
                <a:cubicBezTo>
                  <a:pt x="3574636" y="926170"/>
                  <a:pt x="3572932" y="1002669"/>
                  <a:pt x="3596902" y="1039468"/>
                </a:cubicBezTo>
                <a:cubicBezTo>
                  <a:pt x="3588227" y="1035176"/>
                  <a:pt x="3582669" y="1055878"/>
                  <a:pt x="3587550" y="1069793"/>
                </a:cubicBezTo>
                <a:cubicBezTo>
                  <a:pt x="3553603" y="1054905"/>
                  <a:pt x="3620138" y="1124159"/>
                  <a:pt x="3598129" y="1137690"/>
                </a:cubicBezTo>
                <a:cubicBezTo>
                  <a:pt x="3619154" y="1137277"/>
                  <a:pt x="3657845" y="1198819"/>
                  <a:pt x="3642072" y="1229443"/>
                </a:cubicBezTo>
                <a:cubicBezTo>
                  <a:pt x="3648492" y="1274612"/>
                  <a:pt x="3667414" y="1305895"/>
                  <a:pt x="3662799" y="1353804"/>
                </a:cubicBezTo>
                <a:cubicBezTo>
                  <a:pt x="3665680" y="1355144"/>
                  <a:pt x="3668149" y="1357448"/>
                  <a:pt x="3670319" y="1360420"/>
                </a:cubicBezTo>
                <a:lnTo>
                  <a:pt x="3675717" y="1370453"/>
                </a:lnTo>
                <a:lnTo>
                  <a:pt x="3675458" y="1372456"/>
                </a:lnTo>
                <a:cubicBezTo>
                  <a:pt x="3675775" y="1380261"/>
                  <a:pt x="3677154" y="1384198"/>
                  <a:pt x="3678998" y="1386422"/>
                </a:cubicBezTo>
                <a:lnTo>
                  <a:pt x="3681613" y="1387932"/>
                </a:lnTo>
                <a:lnTo>
                  <a:pt x="3684619" y="1397028"/>
                </a:lnTo>
                <a:lnTo>
                  <a:pt x="3692094" y="1413643"/>
                </a:lnTo>
                <a:lnTo>
                  <a:pt x="3692036" y="1417975"/>
                </a:lnTo>
                <a:lnTo>
                  <a:pt x="3701043" y="1444940"/>
                </a:lnTo>
                <a:lnTo>
                  <a:pt x="3700474" y="1445893"/>
                </a:lnTo>
                <a:cubicBezTo>
                  <a:pt x="3699407" y="1448641"/>
                  <a:pt x="3699006" y="1451835"/>
                  <a:pt x="3699990" y="1456030"/>
                </a:cubicBezTo>
                <a:cubicBezTo>
                  <a:pt x="3688343" y="1458099"/>
                  <a:pt x="3696713" y="1461887"/>
                  <a:pt x="3700642" y="1474079"/>
                </a:cubicBezTo>
                <a:cubicBezTo>
                  <a:pt x="3683431" y="1480016"/>
                  <a:pt x="3700716" y="1509516"/>
                  <a:pt x="3693587" y="1522890"/>
                </a:cubicBezTo>
                <a:cubicBezTo>
                  <a:pt x="3696861" y="1531716"/>
                  <a:pt x="3700010" y="1541157"/>
                  <a:pt x="3702900" y="1551068"/>
                </a:cubicBezTo>
                <a:lnTo>
                  <a:pt x="3708038" y="1631578"/>
                </a:lnTo>
                <a:lnTo>
                  <a:pt x="3698097" y="1716642"/>
                </a:lnTo>
                <a:cubicBezTo>
                  <a:pt x="3699314" y="1747867"/>
                  <a:pt x="3695412" y="1775147"/>
                  <a:pt x="3700384" y="1801382"/>
                </a:cubicBezTo>
                <a:cubicBezTo>
                  <a:pt x="3696845" y="1812311"/>
                  <a:pt x="3695699" y="1822504"/>
                  <a:pt x="3702257" y="1832013"/>
                </a:cubicBezTo>
                <a:cubicBezTo>
                  <a:pt x="3701651" y="1861238"/>
                  <a:pt x="3693313" y="1868713"/>
                  <a:pt x="3700986" y="1886838"/>
                </a:cubicBezTo>
                <a:cubicBezTo>
                  <a:pt x="3687741" y="1903887"/>
                  <a:pt x="3693148" y="1904594"/>
                  <a:pt x="3697545" y="1912087"/>
                </a:cubicBezTo>
                <a:lnTo>
                  <a:pt x="3697885" y="1913171"/>
                </a:lnTo>
                <a:lnTo>
                  <a:pt x="3695987" y="1915505"/>
                </a:lnTo>
                <a:lnTo>
                  <a:pt x="3695284" y="1920179"/>
                </a:lnTo>
                <a:lnTo>
                  <a:pt x="3696499" y="1932787"/>
                </a:lnTo>
                <a:lnTo>
                  <a:pt x="3697473" y="1937503"/>
                </a:lnTo>
                <a:cubicBezTo>
                  <a:pt x="3697953" y="1940760"/>
                  <a:pt x="3698023" y="1942937"/>
                  <a:pt x="3697799" y="1944457"/>
                </a:cubicBezTo>
                <a:lnTo>
                  <a:pt x="3697642" y="1944638"/>
                </a:lnTo>
                <a:lnTo>
                  <a:pt x="3698268" y="1951136"/>
                </a:lnTo>
                <a:cubicBezTo>
                  <a:pt x="3699704" y="1962083"/>
                  <a:pt x="3701457" y="1972719"/>
                  <a:pt x="3703418" y="1982828"/>
                </a:cubicBezTo>
                <a:cubicBezTo>
                  <a:pt x="3694620" y="1991887"/>
                  <a:pt x="3707345" y="2028973"/>
                  <a:pt x="3689767" y="2025705"/>
                </a:cubicBezTo>
                <a:cubicBezTo>
                  <a:pt x="3691896" y="2039367"/>
                  <a:pt x="3699517" y="2047321"/>
                  <a:pt x="3687894" y="2043252"/>
                </a:cubicBezTo>
                <a:cubicBezTo>
                  <a:pt x="3688268" y="2047766"/>
                  <a:pt x="3687435" y="2050599"/>
                  <a:pt x="3686015" y="2052668"/>
                </a:cubicBezTo>
                <a:lnTo>
                  <a:pt x="3685329" y="2053280"/>
                </a:lnTo>
                <a:lnTo>
                  <a:pt x="3690348" y="2083660"/>
                </a:lnTo>
                <a:lnTo>
                  <a:pt x="3689688" y="2087758"/>
                </a:lnTo>
                <a:lnTo>
                  <a:pt x="3694656" y="2107476"/>
                </a:lnTo>
                <a:lnTo>
                  <a:pt x="3696317" y="2117709"/>
                </a:lnTo>
                <a:lnTo>
                  <a:pt x="3698652" y="2120508"/>
                </a:lnTo>
                <a:cubicBezTo>
                  <a:pt x="3700138" y="2123582"/>
                  <a:pt x="3700933" y="2128051"/>
                  <a:pt x="3700157" y="2135655"/>
                </a:cubicBezTo>
                <a:lnTo>
                  <a:pt x="3699626" y="2137431"/>
                </a:lnTo>
                <a:lnTo>
                  <a:pt x="3703486" y="2149795"/>
                </a:lnTo>
                <a:cubicBezTo>
                  <a:pt x="3705184" y="2153754"/>
                  <a:pt x="3707268" y="2157232"/>
                  <a:pt x="3709885" y="2160002"/>
                </a:cubicBezTo>
                <a:cubicBezTo>
                  <a:pt x="3698737" y="2203287"/>
                  <a:pt x="3712805" y="2242927"/>
                  <a:pt x="3712777" y="2289319"/>
                </a:cubicBezTo>
                <a:cubicBezTo>
                  <a:pt x="3693169" y="2310331"/>
                  <a:pt x="3722276" y="2389074"/>
                  <a:pt x="3742794" y="2399589"/>
                </a:cubicBezTo>
                <a:cubicBezTo>
                  <a:pt x="3725319" y="2400703"/>
                  <a:pt x="3751962" y="2457534"/>
                  <a:pt x="3753311" y="2472464"/>
                </a:cubicBezTo>
                <a:cubicBezTo>
                  <a:pt x="3753760" y="2477441"/>
                  <a:pt x="3751399" y="2477762"/>
                  <a:pt x="3743656" y="2469811"/>
                </a:cubicBezTo>
                <a:cubicBezTo>
                  <a:pt x="3746474" y="2485608"/>
                  <a:pt x="3738186" y="2502460"/>
                  <a:pt x="3730339" y="2493869"/>
                </a:cubicBezTo>
                <a:cubicBezTo>
                  <a:pt x="3748556" y="2541387"/>
                  <a:pt x="3736267" y="2613433"/>
                  <a:pt x="3746134" y="2667651"/>
                </a:cubicBezTo>
                <a:cubicBezTo>
                  <a:pt x="3730160" y="2698252"/>
                  <a:pt x="3745496" y="2681337"/>
                  <a:pt x="3743743" y="2712354"/>
                </a:cubicBezTo>
                <a:cubicBezTo>
                  <a:pt x="3759373" y="2703131"/>
                  <a:pt x="3736572" y="2750256"/>
                  <a:pt x="3754759" y="2751060"/>
                </a:cubicBezTo>
                <a:cubicBezTo>
                  <a:pt x="3753864" y="2756679"/>
                  <a:pt x="3752424" y="2762098"/>
                  <a:pt x="3750841" y="2767527"/>
                </a:cubicBezTo>
                <a:lnTo>
                  <a:pt x="3750021" y="2770377"/>
                </a:lnTo>
                <a:lnTo>
                  <a:pt x="3749874" y="2781617"/>
                </a:lnTo>
                <a:lnTo>
                  <a:pt x="3745916" y="2784975"/>
                </a:lnTo>
                <a:lnTo>
                  <a:pt x="3742888" y="2802030"/>
                </a:lnTo>
                <a:cubicBezTo>
                  <a:pt x="3742360" y="2808388"/>
                  <a:pt x="3742498" y="2815196"/>
                  <a:pt x="3743710" y="2822667"/>
                </a:cubicBezTo>
                <a:cubicBezTo>
                  <a:pt x="3751787" y="2840797"/>
                  <a:pt x="3744398" y="2870002"/>
                  <a:pt x="3746201" y="2896003"/>
                </a:cubicBezTo>
                <a:lnTo>
                  <a:pt x="3749006" y="2907846"/>
                </a:lnTo>
                <a:lnTo>
                  <a:pt x="3747206" y="2947037"/>
                </a:lnTo>
                <a:cubicBezTo>
                  <a:pt x="3747030" y="2958176"/>
                  <a:pt x="3747214" y="2969719"/>
                  <a:pt x="3748070" y="2981841"/>
                </a:cubicBezTo>
                <a:lnTo>
                  <a:pt x="3750937" y="3004278"/>
                </a:lnTo>
                <a:lnTo>
                  <a:pt x="3749761" y="3010254"/>
                </a:lnTo>
                <a:cubicBezTo>
                  <a:pt x="3750425" y="3020530"/>
                  <a:pt x="3756245" y="3033889"/>
                  <a:pt x="3749923" y="3032983"/>
                </a:cubicBezTo>
                <a:lnTo>
                  <a:pt x="3752658" y="3044429"/>
                </a:lnTo>
                <a:lnTo>
                  <a:pt x="3748217" y="3056076"/>
                </a:lnTo>
                <a:cubicBezTo>
                  <a:pt x="3747117" y="3057381"/>
                  <a:pt x="3745928" y="3058381"/>
                  <a:pt x="3744691" y="3059042"/>
                </a:cubicBezTo>
                <a:lnTo>
                  <a:pt x="3747123" y="3075102"/>
                </a:lnTo>
                <a:lnTo>
                  <a:pt x="3744190" y="3088509"/>
                </a:lnTo>
                <a:lnTo>
                  <a:pt x="3747093" y="3099930"/>
                </a:lnTo>
                <a:lnTo>
                  <a:pt x="3746799" y="3104743"/>
                </a:lnTo>
                <a:lnTo>
                  <a:pt x="3745610" y="3116729"/>
                </a:lnTo>
                <a:cubicBezTo>
                  <a:pt x="3744666" y="3122891"/>
                  <a:pt x="3743503" y="3129792"/>
                  <a:pt x="3742676" y="3137453"/>
                </a:cubicBezTo>
                <a:lnTo>
                  <a:pt x="3742441" y="3143884"/>
                </a:lnTo>
                <a:lnTo>
                  <a:pt x="3737104" y="3158122"/>
                </a:lnTo>
                <a:cubicBezTo>
                  <a:pt x="3733050" y="3168490"/>
                  <a:pt x="3730374" y="3176626"/>
                  <a:pt x="3733275" y="3185367"/>
                </a:cubicBezTo>
                <a:cubicBezTo>
                  <a:pt x="3728135" y="3200760"/>
                  <a:pt x="3712176" y="3212117"/>
                  <a:pt x="3717639" y="3233769"/>
                </a:cubicBezTo>
                <a:cubicBezTo>
                  <a:pt x="3709851" y="3227497"/>
                  <a:pt x="3717920" y="3258095"/>
                  <a:pt x="3710433" y="3262123"/>
                </a:cubicBezTo>
                <a:cubicBezTo>
                  <a:pt x="3704342" y="3264110"/>
                  <a:pt x="3705370" y="3273856"/>
                  <a:pt x="3703458" y="3281408"/>
                </a:cubicBezTo>
                <a:cubicBezTo>
                  <a:pt x="3697412" y="3287020"/>
                  <a:pt x="3693483" y="3324746"/>
                  <a:pt x="3695027" y="3337739"/>
                </a:cubicBezTo>
                <a:cubicBezTo>
                  <a:pt x="3703095" y="3374177"/>
                  <a:pt x="3679154" y="3404974"/>
                  <a:pt x="3684951" y="3434139"/>
                </a:cubicBezTo>
                <a:cubicBezTo>
                  <a:pt x="3684732" y="3441861"/>
                  <a:pt x="3683615" y="3448308"/>
                  <a:pt x="3681946" y="3453928"/>
                </a:cubicBezTo>
                <a:lnTo>
                  <a:pt x="3675939" y="3468021"/>
                </a:lnTo>
                <a:cubicBezTo>
                  <a:pt x="3674480" y="3468264"/>
                  <a:pt x="3673022" y="3468506"/>
                  <a:pt x="3671563" y="3468748"/>
                </a:cubicBezTo>
                <a:lnTo>
                  <a:pt x="3669360" y="3479164"/>
                </a:lnTo>
                <a:lnTo>
                  <a:pt x="3668060" y="3481325"/>
                </a:lnTo>
                <a:cubicBezTo>
                  <a:pt x="3665560" y="3485437"/>
                  <a:pt x="3663197" y="3489622"/>
                  <a:pt x="3661315" y="3494328"/>
                </a:cubicBezTo>
                <a:cubicBezTo>
                  <a:pt x="3678446" y="3506175"/>
                  <a:pt x="3648136" y="3536311"/>
                  <a:pt x="3664679" y="3537226"/>
                </a:cubicBezTo>
                <a:cubicBezTo>
                  <a:pt x="3657322" y="3565147"/>
                  <a:pt x="3674997" y="3558694"/>
                  <a:pt x="3654205" y="3577551"/>
                </a:cubicBezTo>
                <a:cubicBezTo>
                  <a:pt x="3653633" y="3634248"/>
                  <a:pt x="3628736" y="3694092"/>
                  <a:pt x="3637325" y="3749618"/>
                </a:cubicBezTo>
                <a:cubicBezTo>
                  <a:pt x="3631446" y="3736800"/>
                  <a:pt x="3620480" y="3747498"/>
                  <a:pt x="3620258" y="3763981"/>
                </a:cubicBezTo>
                <a:cubicBezTo>
                  <a:pt x="3596667" y="3715365"/>
                  <a:pt x="3630603" y="3842969"/>
                  <a:pt x="3608193" y="3830141"/>
                </a:cubicBezTo>
                <a:cubicBezTo>
                  <a:pt x="3625759" y="3852486"/>
                  <a:pt x="3638965" y="3943841"/>
                  <a:pt x="3616479" y="3951521"/>
                </a:cubicBezTo>
                <a:cubicBezTo>
                  <a:pt x="3607940" y="3994867"/>
                  <a:pt x="3614033" y="4040502"/>
                  <a:pt x="3595498" y="4074157"/>
                </a:cubicBezTo>
                <a:cubicBezTo>
                  <a:pt x="3597477" y="4078342"/>
                  <a:pt x="3598819" y="4082864"/>
                  <a:pt x="3599706" y="4087599"/>
                </a:cubicBezTo>
                <a:lnTo>
                  <a:pt x="3601103" y="4101515"/>
                </a:lnTo>
                <a:lnTo>
                  <a:pt x="3600274" y="4102849"/>
                </a:lnTo>
                <a:cubicBezTo>
                  <a:pt x="3598143" y="4109482"/>
                  <a:pt x="3598077" y="4114144"/>
                  <a:pt x="3598925" y="4117926"/>
                </a:cubicBezTo>
                <a:lnTo>
                  <a:pt x="3600630" y="4121966"/>
                </a:lnTo>
                <a:lnTo>
                  <a:pt x="3600331" y="4132543"/>
                </a:lnTo>
                <a:lnTo>
                  <a:pt x="3601432" y="4154003"/>
                </a:lnTo>
                <a:lnTo>
                  <a:pt x="3600054" y="4157433"/>
                </a:lnTo>
                <a:lnTo>
                  <a:pt x="3599248" y="4188888"/>
                </a:lnTo>
                <a:cubicBezTo>
                  <a:pt x="3598993" y="4188940"/>
                  <a:pt x="3598738" y="4188992"/>
                  <a:pt x="3598484" y="4189044"/>
                </a:cubicBezTo>
                <a:cubicBezTo>
                  <a:pt x="3596754" y="4190111"/>
                  <a:pt x="3595443" y="4192250"/>
                  <a:pt x="3594971" y="4196698"/>
                </a:cubicBezTo>
                <a:cubicBezTo>
                  <a:pt x="3584674" y="4185805"/>
                  <a:pt x="3590455" y="4197885"/>
                  <a:pt x="3589971" y="4211958"/>
                </a:cubicBezTo>
                <a:cubicBezTo>
                  <a:pt x="3573870" y="4198179"/>
                  <a:pt x="3579156" y="4240607"/>
                  <a:pt x="3569135" y="4243705"/>
                </a:cubicBezTo>
                <a:cubicBezTo>
                  <a:pt x="3569142" y="4254351"/>
                  <a:pt x="3568856" y="4265362"/>
                  <a:pt x="3568210" y="4276468"/>
                </a:cubicBezTo>
                <a:lnTo>
                  <a:pt x="3567613" y="4282925"/>
                </a:lnTo>
                <a:cubicBezTo>
                  <a:pt x="3567553" y="4282949"/>
                  <a:pt x="3567492" y="4282974"/>
                  <a:pt x="3567432" y="4282999"/>
                </a:cubicBezTo>
                <a:cubicBezTo>
                  <a:pt x="3566940" y="4284280"/>
                  <a:pt x="3566607" y="4286359"/>
                  <a:pt x="3566464" y="4289697"/>
                </a:cubicBezTo>
                <a:lnTo>
                  <a:pt x="3566526" y="4294698"/>
                </a:lnTo>
                <a:lnTo>
                  <a:pt x="3565367" y="4307225"/>
                </a:lnTo>
                <a:lnTo>
                  <a:pt x="3563841" y="4311164"/>
                </a:lnTo>
                <a:lnTo>
                  <a:pt x="3561610" y="4312189"/>
                </a:lnTo>
                <a:lnTo>
                  <a:pt x="3561734" y="4313408"/>
                </a:lnTo>
                <a:cubicBezTo>
                  <a:pt x="3564537" y="4323096"/>
                  <a:pt x="3569544" y="4327053"/>
                  <a:pt x="3553832" y="4334910"/>
                </a:cubicBezTo>
                <a:cubicBezTo>
                  <a:pt x="3557797" y="4356533"/>
                  <a:pt x="3548502" y="4358433"/>
                  <a:pt x="3542564" y="4385380"/>
                </a:cubicBezTo>
                <a:cubicBezTo>
                  <a:pt x="3547050" y="4398267"/>
                  <a:pt x="3544091" y="4407098"/>
                  <a:pt x="3538724" y="4415150"/>
                </a:cubicBezTo>
                <a:cubicBezTo>
                  <a:pt x="3538633" y="4442707"/>
                  <a:pt x="3529920" y="4465824"/>
                  <a:pt x="3525348" y="4495753"/>
                </a:cubicBezTo>
                <a:cubicBezTo>
                  <a:pt x="3529387" y="4530212"/>
                  <a:pt x="3514579" y="4543935"/>
                  <a:pt x="3509749" y="4575934"/>
                </a:cubicBezTo>
                <a:cubicBezTo>
                  <a:pt x="3519579" y="4606914"/>
                  <a:pt x="3496418" y="4596497"/>
                  <a:pt x="3489779" y="4611927"/>
                </a:cubicBezTo>
                <a:lnTo>
                  <a:pt x="3488856" y="4616508"/>
                </a:lnTo>
                <a:lnTo>
                  <a:pt x="3489486" y="4629163"/>
                </a:lnTo>
                <a:lnTo>
                  <a:pt x="3490242" y="4633947"/>
                </a:lnTo>
                <a:cubicBezTo>
                  <a:pt x="3490570" y="4637233"/>
                  <a:pt x="3490539" y="4639406"/>
                  <a:pt x="3490244" y="4640894"/>
                </a:cubicBezTo>
                <a:lnTo>
                  <a:pt x="3490078" y="4641059"/>
                </a:lnTo>
                <a:lnTo>
                  <a:pt x="3490403" y="4647582"/>
                </a:lnTo>
                <a:cubicBezTo>
                  <a:pt x="3491330" y="4658608"/>
                  <a:pt x="3492590" y="4669354"/>
                  <a:pt x="3494082" y="4679601"/>
                </a:cubicBezTo>
                <a:cubicBezTo>
                  <a:pt x="3484854" y="4687754"/>
                  <a:pt x="3495864" y="4725869"/>
                  <a:pt x="3478421" y="4720918"/>
                </a:cubicBezTo>
                <a:cubicBezTo>
                  <a:pt x="3479918" y="4734712"/>
                  <a:pt x="3487176" y="4743359"/>
                  <a:pt x="3475730" y="4738188"/>
                </a:cubicBezTo>
                <a:cubicBezTo>
                  <a:pt x="3475894" y="4742712"/>
                  <a:pt x="3474928" y="4745450"/>
                  <a:pt x="3473409" y="4747368"/>
                </a:cubicBezTo>
                <a:lnTo>
                  <a:pt x="3472696" y="4747913"/>
                </a:lnTo>
                <a:lnTo>
                  <a:pt x="3476304" y="4778609"/>
                </a:lnTo>
                <a:lnTo>
                  <a:pt x="3475454" y="4782623"/>
                </a:lnTo>
                <a:lnTo>
                  <a:pt x="3479507" y="4802712"/>
                </a:lnTo>
                <a:lnTo>
                  <a:pt x="3480695" y="4813049"/>
                </a:lnTo>
                <a:lnTo>
                  <a:pt x="3482902" y="4816057"/>
                </a:lnTo>
                <a:cubicBezTo>
                  <a:pt x="3484247" y="4819259"/>
                  <a:pt x="3484834" y="4823783"/>
                  <a:pt x="3483703" y="4831270"/>
                </a:cubicBezTo>
                <a:lnTo>
                  <a:pt x="3483090" y="4832984"/>
                </a:lnTo>
                <a:lnTo>
                  <a:pt x="3486378" y="4845654"/>
                </a:lnTo>
                <a:cubicBezTo>
                  <a:pt x="3487893" y="4849755"/>
                  <a:pt x="3489817" y="4853416"/>
                  <a:pt x="3492309" y="4856425"/>
                </a:cubicBezTo>
                <a:cubicBezTo>
                  <a:pt x="3479133" y="4898390"/>
                  <a:pt x="3491371" y="4939174"/>
                  <a:pt x="3489182" y="4985308"/>
                </a:cubicBezTo>
                <a:cubicBezTo>
                  <a:pt x="3492413" y="5037202"/>
                  <a:pt x="3496839" y="5073159"/>
                  <a:pt x="3498182" y="5107346"/>
                </a:cubicBezTo>
                <a:cubicBezTo>
                  <a:pt x="3500266" y="5123329"/>
                  <a:pt x="3506680" y="5240376"/>
                  <a:pt x="3499225" y="5231073"/>
                </a:cubicBezTo>
                <a:cubicBezTo>
                  <a:pt x="3515247" y="5280090"/>
                  <a:pt x="3497607" y="5309911"/>
                  <a:pt x="3504960" y="5364785"/>
                </a:cubicBezTo>
                <a:cubicBezTo>
                  <a:pt x="3487546" y="5393671"/>
                  <a:pt x="3503686" y="5378336"/>
                  <a:pt x="3500486" y="5409009"/>
                </a:cubicBezTo>
                <a:cubicBezTo>
                  <a:pt x="3516561" y="5401350"/>
                  <a:pt x="3491544" y="5446009"/>
                  <a:pt x="3509710" y="5448570"/>
                </a:cubicBezTo>
                <a:cubicBezTo>
                  <a:pt x="3508555" y="5454072"/>
                  <a:pt x="3506859" y="5459319"/>
                  <a:pt x="3505022" y="5464568"/>
                </a:cubicBezTo>
                <a:lnTo>
                  <a:pt x="3504070" y="5467320"/>
                </a:lnTo>
                <a:lnTo>
                  <a:pt x="3503399" y="5478483"/>
                </a:lnTo>
                <a:lnTo>
                  <a:pt x="3499281" y="5481443"/>
                </a:lnTo>
                <a:lnTo>
                  <a:pt x="3499047" y="5616712"/>
                </a:lnTo>
                <a:cubicBezTo>
                  <a:pt x="3502347" y="5628424"/>
                  <a:pt x="3503819" y="5666768"/>
                  <a:pt x="3498775" y="5675291"/>
                </a:cubicBezTo>
                <a:cubicBezTo>
                  <a:pt x="3497984" y="5683547"/>
                  <a:pt x="3500335" y="5692400"/>
                  <a:pt x="3494739" y="5697458"/>
                </a:cubicBezTo>
                <a:cubicBezTo>
                  <a:pt x="3492180" y="5715432"/>
                  <a:pt x="3486290" y="5756597"/>
                  <a:pt x="3483423" y="5783137"/>
                </a:cubicBezTo>
                <a:cubicBezTo>
                  <a:pt x="3491452" y="5796973"/>
                  <a:pt x="3477643" y="5819988"/>
                  <a:pt x="3477532" y="5856699"/>
                </a:cubicBezTo>
                <a:cubicBezTo>
                  <a:pt x="3486776" y="5871818"/>
                  <a:pt x="3477340" y="5881447"/>
                  <a:pt x="3490032" y="5910638"/>
                </a:cubicBezTo>
                <a:cubicBezTo>
                  <a:pt x="3488930" y="5911913"/>
                  <a:pt x="3487924" y="5913488"/>
                  <a:pt x="3487046" y="5915313"/>
                </a:cubicBezTo>
                <a:cubicBezTo>
                  <a:pt x="3481941" y="5925917"/>
                  <a:pt x="3482137" y="5942505"/>
                  <a:pt x="3487484" y="5952365"/>
                </a:cubicBezTo>
                <a:cubicBezTo>
                  <a:pt x="3504666" y="5999029"/>
                  <a:pt x="3505019" y="6042078"/>
                  <a:pt x="3509266" y="6082373"/>
                </a:cubicBezTo>
                <a:cubicBezTo>
                  <a:pt x="3512265" y="6128005"/>
                  <a:pt x="3492950" y="6098121"/>
                  <a:pt x="3509564" y="6154771"/>
                </a:cubicBezTo>
                <a:cubicBezTo>
                  <a:pt x="3503223" y="6161045"/>
                  <a:pt x="3503062" y="6168289"/>
                  <a:pt x="3506404" y="6180433"/>
                </a:cubicBezTo>
                <a:cubicBezTo>
                  <a:pt x="3507378" y="6202614"/>
                  <a:pt x="3491084" y="6201180"/>
                  <a:pt x="3501312" y="6223427"/>
                </a:cubicBezTo>
                <a:cubicBezTo>
                  <a:pt x="3492497" y="6219559"/>
                  <a:pt x="3498753" y="6265580"/>
                  <a:pt x="3489469" y="6255476"/>
                </a:cubicBezTo>
                <a:cubicBezTo>
                  <a:pt x="3481791" y="6270065"/>
                  <a:pt x="3495037" y="6276996"/>
                  <a:pt x="3488398" y="6291462"/>
                </a:cubicBezTo>
                <a:cubicBezTo>
                  <a:pt x="3487099" y="6307679"/>
                  <a:pt x="3497555" y="6282019"/>
                  <a:pt x="3498547" y="6299935"/>
                </a:cubicBezTo>
                <a:cubicBezTo>
                  <a:pt x="3498173" y="6321676"/>
                  <a:pt x="3514193" y="6321381"/>
                  <a:pt x="3494028" y="6338390"/>
                </a:cubicBezTo>
                <a:lnTo>
                  <a:pt x="3486030" y="6396716"/>
                </a:lnTo>
                <a:cubicBezTo>
                  <a:pt x="3491309" y="6409668"/>
                  <a:pt x="3488928" y="6420134"/>
                  <a:pt x="3484103" y="6430386"/>
                </a:cubicBezTo>
                <a:cubicBezTo>
                  <a:pt x="3485763" y="6460632"/>
                  <a:pt x="3478568" y="6488285"/>
                  <a:pt x="3475922" y="6522318"/>
                </a:cubicBezTo>
                <a:cubicBezTo>
                  <a:pt x="3482128" y="6559051"/>
                  <a:pt x="3468277" y="6578006"/>
                  <a:pt x="3465506" y="6614374"/>
                </a:cubicBezTo>
                <a:cubicBezTo>
                  <a:pt x="3478925" y="6650248"/>
                  <a:pt x="3446064" y="6638174"/>
                  <a:pt x="3446789" y="6668768"/>
                </a:cubicBezTo>
                <a:cubicBezTo>
                  <a:pt x="3458869" y="6718505"/>
                  <a:pt x="3435878" y="6667592"/>
                  <a:pt x="3439582" y="6744454"/>
                </a:cubicBezTo>
                <a:cubicBezTo>
                  <a:pt x="3441631" y="6748797"/>
                  <a:pt x="3439393" y="6758101"/>
                  <a:pt x="3436538" y="6757102"/>
                </a:cubicBezTo>
                <a:cubicBezTo>
                  <a:pt x="3437461" y="6773941"/>
                  <a:pt x="3420846" y="6822488"/>
                  <a:pt x="3424061" y="6846522"/>
                </a:cubicBezTo>
                <a:lnTo>
                  <a:pt x="34230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1CB70-96B0-7BAC-6A46-540166A73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1" y="2201958"/>
            <a:ext cx="6781800" cy="390073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>
                <a:latin typeface="American Typewriter" panose="02090604020004020304" pitchFamily="18" charset="77"/>
              </a:rPr>
              <a:t>Function and Variable Names</a:t>
            </a:r>
          </a:p>
          <a:p>
            <a:pPr marL="0" indent="0">
              <a:buNone/>
            </a:pPr>
            <a:endParaRPr lang="en-US" sz="240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2400">
                <a:latin typeface="American Typewriter" panose="02090604020004020304" pitchFamily="18" charset="77"/>
              </a:rPr>
              <a:t>Function names should be lowercase, with words separated by underscores as necessary to improve readability.</a:t>
            </a:r>
          </a:p>
          <a:p>
            <a:pPr marL="0" indent="0">
              <a:buNone/>
            </a:pPr>
            <a:endParaRPr lang="en-US" sz="2400">
              <a:latin typeface="American Typewriter" panose="02090604020004020304" pitchFamily="18" charset="77"/>
            </a:endParaRPr>
          </a:p>
          <a:p>
            <a:pPr marL="0" indent="0">
              <a:buNone/>
            </a:pPr>
            <a:r>
              <a:rPr lang="en-US" sz="2400">
                <a:latin typeface="American Typewriter" panose="02090604020004020304" pitchFamily="18" charset="77"/>
              </a:rPr>
              <a:t>Variable names follow the same convention as function names.</a:t>
            </a:r>
          </a:p>
        </p:txBody>
      </p:sp>
    </p:spTree>
    <p:extLst>
      <p:ext uri="{BB962C8B-B14F-4D97-AF65-F5344CB8AC3E}">
        <p14:creationId xmlns:p14="http://schemas.microsoft.com/office/powerpoint/2010/main" val="2110108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65D4-24C0-4CD1-A757-60CA50E07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Mapping type: Dictionaries (mutable)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E2FB3-F257-CE2C-B418-4AADC60DA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1418"/>
            <a:ext cx="5257800" cy="4322256"/>
          </a:xfrm>
        </p:spPr>
        <p:txBody>
          <a:bodyPr>
            <a:normAutofit lnSpcReduction="10000"/>
          </a:bodyPr>
          <a:lstStyle/>
          <a:p>
            <a:r>
              <a:rPr lang="en-US"/>
              <a:t>Maps keys to values.</a:t>
            </a:r>
          </a:p>
          <a:p>
            <a:r>
              <a:rPr lang="en-US"/>
              <a:t>Keys need to be </a:t>
            </a:r>
            <a:r>
              <a:rPr lang="en-US" err="1"/>
              <a:t>hashable</a:t>
            </a:r>
            <a:r>
              <a:rPr lang="en-US"/>
              <a:t> objects,</a:t>
            </a:r>
          </a:p>
          <a:p>
            <a:r>
              <a:rPr lang="en-US"/>
              <a:t>Values can be of any arbitrary type</a:t>
            </a:r>
          </a:p>
          <a:p>
            <a:r>
              <a:rPr lang="en-US"/>
              <a:t>Object is </a:t>
            </a:r>
            <a:r>
              <a:rPr lang="en-US" err="1"/>
              <a:t>hashable</a:t>
            </a:r>
            <a:r>
              <a:rPr lang="en-US"/>
              <a:t> if it has a hash value that does not change during its entire lifetime</a:t>
            </a:r>
          </a:p>
          <a:p>
            <a:r>
              <a:rPr lang="en-US"/>
              <a:t>Pair of braces creates an empty dictionary: </a:t>
            </a:r>
            <a:r>
              <a:rPr lang="en-US" b="1">
                <a:solidFill>
                  <a:srgbClr val="00FF00"/>
                </a:solidFill>
              </a:rPr>
              <a:t>{}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6EC0B4-AA91-3FA3-B1CB-BE082139D21B}"/>
              </a:ext>
            </a:extLst>
          </p:cNvPr>
          <p:cNvSpPr txBox="1"/>
          <p:nvPr/>
        </p:nvSpPr>
        <p:spPr>
          <a:xfrm>
            <a:off x="6096000" y="2071418"/>
            <a:ext cx="5640421" cy="2956322"/>
          </a:xfrm>
          <a:prstGeom prst="rect">
            <a:avLst/>
          </a:prstGeom>
          <a:noFill/>
          <a:ln>
            <a:solidFill>
              <a:srgbClr val="2FABED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 = </a:t>
            </a:r>
            <a:r>
              <a:rPr lang="en-US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dict</a:t>
            </a: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(A=1, Z=-1)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b = {'A': 1, 'Z': -1}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c = </a:t>
            </a:r>
            <a:r>
              <a:rPr lang="en-US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dict</a:t>
            </a: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(zip(['A', 'Z'], [1, -1]))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d = </a:t>
            </a:r>
            <a:r>
              <a:rPr lang="en-US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dict</a:t>
            </a: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([('A', 1), ('Z', -1)])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e = </a:t>
            </a:r>
            <a:r>
              <a:rPr lang="en-US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dict</a:t>
            </a: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({'Z': -1, 'A': 1})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 == b == c == d == e  # tests if same?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  # They are indeed</a:t>
            </a:r>
          </a:p>
        </p:txBody>
      </p:sp>
    </p:spTree>
    <p:extLst>
      <p:ext uri="{BB962C8B-B14F-4D97-AF65-F5344CB8AC3E}">
        <p14:creationId xmlns:p14="http://schemas.microsoft.com/office/powerpoint/2010/main" val="2802542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9D9E7-E3DB-6426-069C-A179B5014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Zip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B10E9-B592-8E25-AF84-667352F9D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03288"/>
            <a:ext cx="10515600" cy="2415635"/>
          </a:xfrm>
        </p:spPr>
        <p:txBody>
          <a:bodyPr>
            <a:noAutofit/>
          </a:bodyPr>
          <a:lstStyle/>
          <a:p>
            <a:r>
              <a:rPr lang="en-US"/>
              <a:t>Zip function takes </a:t>
            </a:r>
            <a:r>
              <a:rPr lang="en-US" err="1"/>
              <a:t>iterables</a:t>
            </a:r>
            <a:r>
              <a:rPr lang="en-US"/>
              <a:t> (zero or more), aggregates them in a tuple, and returns it</a:t>
            </a:r>
          </a:p>
          <a:p>
            <a:r>
              <a:rPr lang="en-US"/>
              <a:t>The list() constructor around the zip() call </a:t>
            </a:r>
          </a:p>
          <a:p>
            <a:r>
              <a:rPr lang="en-US"/>
              <a:t>zip() returns an iterator, not a list() constructor around the zip() call </a:t>
            </a:r>
          </a:p>
          <a:p>
            <a:r>
              <a:rPr lang="en-US"/>
              <a:t>Zip couples the elements together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BDB79C-CEBC-0D88-5504-EC1FA848FDDB}"/>
              </a:ext>
            </a:extLst>
          </p:cNvPr>
          <p:cNvSpPr txBox="1"/>
          <p:nvPr/>
        </p:nvSpPr>
        <p:spPr>
          <a:xfrm>
            <a:off x="3216614" y="1139077"/>
            <a:ext cx="8312284" cy="1709827"/>
          </a:xfrm>
          <a:prstGeom prst="rect">
            <a:avLst/>
          </a:prstGeom>
          <a:noFill/>
          <a:ln>
            <a:solidFill>
              <a:srgbClr val="2FABED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list(zip(['h', 'e', 'l', 'l', 'o'], [1, 2, 3, 4, 5]))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[('h', 1), ('e', 2), ('l', 3), ('l', 4), ('o', 5)]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list(zip('hello', range(1, 6)))  # equivalent, more pythonic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[('h', 1), ('e', 2), ('l', 3), ('l', 4), ('o', 5)] </a:t>
            </a:r>
          </a:p>
        </p:txBody>
      </p:sp>
      <p:pic>
        <p:nvPicPr>
          <p:cNvPr id="7" name="Graphic 6" descr="Zipper outline">
            <a:extLst>
              <a:ext uri="{FF2B5EF4-FFF2-40B4-BE49-F238E27FC236}">
                <a16:creationId xmlns:a16="http://schemas.microsoft.com/office/drawing/2014/main" id="{34D6A825-6F8E-8368-8A9D-E543AC8A9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730095">
            <a:off x="692118" y="1482291"/>
            <a:ext cx="1325562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774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F1539-4003-558F-8AE6-2928FB67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004" y="365125"/>
            <a:ext cx="3578157" cy="3063875"/>
          </a:xfrm>
        </p:spPr>
        <p:txBody>
          <a:bodyPr/>
          <a:lstStyle/>
          <a:p>
            <a:r>
              <a:rPr lang="en-US"/>
              <a:t>Square bracket  </a:t>
            </a:r>
            <a:br>
              <a:rPr lang="en-US"/>
            </a:br>
            <a:r>
              <a:rPr lang="en-US"/>
              <a:t>for Dictionary Key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69F287-7700-88A6-CB92-649E2239F7D9}"/>
              </a:ext>
            </a:extLst>
          </p:cNvPr>
          <p:cNvSpPr txBox="1"/>
          <p:nvPr/>
        </p:nvSpPr>
        <p:spPr>
          <a:xfrm>
            <a:off x="4135877" y="365125"/>
            <a:ext cx="7568119" cy="6186309"/>
          </a:xfrm>
          <a:prstGeom prst="rect">
            <a:avLst/>
          </a:prstGeom>
          <a:noFill/>
          <a:ln>
            <a:solidFill>
              <a:srgbClr val="2FABED"/>
            </a:solidFill>
          </a:ln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d = {}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d['a'] = 1  # let's set a couple of (key, value) pairs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d['b'] = 2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(d)  # how many pairs?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d['a']  # what is the value of 'a'?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d  # view d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{'a': 1, 'b': 2}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del d['a']  # remove `a`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d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{'b': 2}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d['c'] = 3  # add 'c': 3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'c' in d  # membership is checked against the keys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3 in d  # not the values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'e' in d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-US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d.clear</a:t>
            </a:r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 # clean up dictionary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d</a:t>
            </a:r>
          </a:p>
          <a:p>
            <a:r>
              <a:rPr lang="en-US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{}</a:t>
            </a:r>
          </a:p>
        </p:txBody>
      </p:sp>
      <p:pic>
        <p:nvPicPr>
          <p:cNvPr id="7" name="Graphic 6" descr="Old Key outline">
            <a:extLst>
              <a:ext uri="{FF2B5EF4-FFF2-40B4-BE49-F238E27FC236}">
                <a16:creationId xmlns:a16="http://schemas.microsoft.com/office/drawing/2014/main" id="{DAA992F4-A948-C940-475B-6D6C9A925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4311" y="3429000"/>
            <a:ext cx="1561290" cy="156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3230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E7B92-6FDB-C6E3-F5F7-0FFFFC782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Intentionally blank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F5D10-D09F-8429-6709-686014D08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blank</a:t>
            </a:r>
          </a:p>
        </p:txBody>
      </p:sp>
    </p:spTree>
    <p:extLst>
      <p:ext uri="{BB962C8B-B14F-4D97-AF65-F5344CB8AC3E}">
        <p14:creationId xmlns:p14="http://schemas.microsoft.com/office/powerpoint/2010/main" val="17428472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A714-3DD3-B633-3566-34DA91B0E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2D88D-8894-E3B8-DF88-B7B1FCD11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/>
              <a:t>List</a:t>
            </a:r>
            <a:r>
              <a:rPr lang="en-US"/>
              <a:t> is a collection which is ordered and changeable. Allows duplicate members. </a:t>
            </a:r>
            <a:r>
              <a:rPr lang="en-US" sz="2400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mylist</a:t>
            </a:r>
            <a:r>
              <a:rPr lang="en-US" sz="240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["apple", "banana", "cherry"]</a:t>
            </a:r>
          </a:p>
          <a:p>
            <a:r>
              <a:rPr lang="en-US" b="1" u="sng"/>
              <a:t>Tuple</a:t>
            </a:r>
            <a:r>
              <a:rPr lang="en-US"/>
              <a:t> is a collection which is ordered and unchangeable. Allows duplicate members. </a:t>
            </a:r>
            <a:r>
              <a:rPr lang="en-US" sz="2400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mytuple</a:t>
            </a:r>
            <a:r>
              <a:rPr lang="en-US" sz="240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("apple", "banana", "cherry")</a:t>
            </a:r>
          </a:p>
          <a:p>
            <a:r>
              <a:rPr lang="en-US" b="1" u="sng"/>
              <a:t>Set</a:t>
            </a:r>
            <a:r>
              <a:rPr lang="en-US"/>
              <a:t> is a collection which is unordered, unchangeable, and unindexed. No duplicate members. </a:t>
            </a:r>
            <a:r>
              <a:rPr lang="en-US" sz="2400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myset</a:t>
            </a:r>
            <a:r>
              <a:rPr lang="en-US" sz="240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{"apple", "banana", "cherry"}</a:t>
            </a:r>
          </a:p>
          <a:p>
            <a:r>
              <a:rPr lang="en-US" b="1" u="sng"/>
              <a:t>Dictionary</a:t>
            </a:r>
            <a:r>
              <a:rPr lang="en-US"/>
              <a:t> is a collection which is ordered  and changeable. No duplicate members. </a:t>
            </a:r>
            <a:r>
              <a:rPr lang="en-US" sz="2400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thisdict</a:t>
            </a:r>
            <a:r>
              <a:rPr lang="en-US" sz="240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{ “brand”: “</a:t>
            </a:r>
            <a:r>
              <a:rPr lang="en-US" sz="2400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Honda”,”model</a:t>
            </a:r>
            <a:r>
              <a:rPr lang="en-US" sz="240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”: ”</a:t>
            </a:r>
            <a:r>
              <a:rPr lang="en-US" sz="2400" err="1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CRV","year</a:t>
            </a:r>
            <a:r>
              <a:rPr lang="en-US" sz="2400">
                <a:solidFill>
                  <a:srgbClr val="00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 2018}</a:t>
            </a:r>
          </a:p>
        </p:txBody>
      </p:sp>
    </p:spTree>
    <p:extLst>
      <p:ext uri="{BB962C8B-B14F-4D97-AF65-F5344CB8AC3E}">
        <p14:creationId xmlns:p14="http://schemas.microsoft.com/office/powerpoint/2010/main" val="1218355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284A1-403E-270D-3483-616A9668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2" y="741392"/>
            <a:ext cx="5479719" cy="1159980"/>
          </a:xfrm>
        </p:spPr>
        <p:txBody>
          <a:bodyPr anchor="b">
            <a:normAutofit/>
          </a:bodyPr>
          <a:lstStyle/>
          <a:p>
            <a:r>
              <a:rPr lang="en-US" sz="480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3A22D-24EA-A751-1DFC-F3C00C059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2" y="2533476"/>
            <a:ext cx="6148222" cy="3447832"/>
          </a:xfrm>
        </p:spPr>
        <p:txBody>
          <a:bodyPr anchor="t">
            <a:normAutofit/>
          </a:bodyPr>
          <a:lstStyle/>
          <a:p>
            <a:r>
              <a:rPr lang="en-US" sz="3200"/>
              <a:t>Explored the built-in data types and data structures</a:t>
            </a:r>
          </a:p>
          <a:p>
            <a:r>
              <a:rPr lang="en-US" sz="3200"/>
              <a:t>Learned the difference between mutable and immutable</a:t>
            </a:r>
          </a:p>
          <a:p>
            <a:r>
              <a:rPr lang="en-US" sz="3200"/>
              <a:t>Understand slicing and indexing</a:t>
            </a:r>
          </a:p>
        </p:txBody>
      </p:sp>
      <p:pic>
        <p:nvPicPr>
          <p:cNvPr id="36" name="Picture 16" descr="Graph on document with pen">
            <a:extLst>
              <a:ext uri="{FF2B5EF4-FFF2-40B4-BE49-F238E27FC236}">
                <a16:creationId xmlns:a16="http://schemas.microsoft.com/office/drawing/2014/main" id="{E4832B5C-DB57-8725-410B-C387B71B13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912" r="19189" b="-1"/>
          <a:stretch/>
        </p:blipFill>
        <p:spPr>
          <a:xfrm>
            <a:off x="7270812" y="10"/>
            <a:ext cx="4921187" cy="6857990"/>
          </a:xfrm>
          <a:prstGeom prst="rect">
            <a:avLst/>
          </a:prstGeom>
        </p:spPr>
      </p:pic>
      <p:grpSp>
        <p:nvGrpSpPr>
          <p:cNvPr id="37" name="Group 20">
            <a:extLst>
              <a:ext uri="{FF2B5EF4-FFF2-40B4-BE49-F238E27FC236}">
                <a16:creationId xmlns:a16="http://schemas.microsoft.com/office/drawing/2014/main" id="{8CE57D37-C2D0-066B-1AE3-6F4244344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24DCA44-89CF-872A-903F-96C50780E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B0CC4F5-AC85-FFFA-7EB5-33C4FCE90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6452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9377</TotalTime>
  <Words>2440</Words>
  <Application>Microsoft Office PowerPoint</Application>
  <PresentationFormat>Widescreen</PresentationFormat>
  <Paragraphs>282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ＭＳ Ｐゴシック</vt:lpstr>
      <vt:lpstr>American Typewriter</vt:lpstr>
      <vt:lpstr>Arial</vt:lpstr>
      <vt:lpstr>Bradley Hand</vt:lpstr>
      <vt:lpstr>Calibri</vt:lpstr>
      <vt:lpstr>Calibri Light</vt:lpstr>
      <vt:lpstr>Consolas</vt:lpstr>
      <vt:lpstr>Wingdings</vt:lpstr>
      <vt:lpstr>Office Theme</vt:lpstr>
      <vt:lpstr>Data types and Structures</vt:lpstr>
      <vt:lpstr>Running a Python Program</vt:lpstr>
      <vt:lpstr>Python Interactive Shell</vt:lpstr>
      <vt:lpstr>PowerPoint Presentation</vt:lpstr>
      <vt:lpstr>C vs Python</vt:lpstr>
      <vt:lpstr>Python Data Model = Everything an object</vt:lpstr>
      <vt:lpstr>Everything is an object</vt:lpstr>
      <vt:lpstr>Immuatable – the value cannot change</vt:lpstr>
      <vt:lpstr>Really Immutable</vt:lpstr>
      <vt:lpstr>Integers as immutable objects</vt:lpstr>
      <vt:lpstr>Boolean</vt:lpstr>
      <vt:lpstr>Floating point numbers</vt:lpstr>
      <vt:lpstr>Decimal</vt:lpstr>
      <vt:lpstr>Strings and Bytes</vt:lpstr>
      <vt:lpstr>PEP 8 Guidelines  for string quotes</vt:lpstr>
      <vt:lpstr>Encoding and Decoding</vt:lpstr>
      <vt:lpstr>Fetching the last element in a collection</vt:lpstr>
      <vt:lpstr>Indexing and Slicing</vt:lpstr>
      <vt:lpstr>Tuples  are immutable </vt:lpstr>
      <vt:lpstr>Lists are mutable sequences</vt:lpstr>
      <vt:lpstr>Manipulating Lists</vt:lpstr>
      <vt:lpstr>Other List methods</vt:lpstr>
      <vt:lpstr>PEP 8 Guidelines  for naming</vt:lpstr>
      <vt:lpstr>Mapping type: Dictionaries (mutable)</vt:lpstr>
      <vt:lpstr>Zip</vt:lpstr>
      <vt:lpstr>Square bracket   for Dictionary Key</vt:lpstr>
      <vt:lpstr>Intentionally blank</vt:lpstr>
      <vt:lpstr>Collections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Solving and Solution</dc:title>
  <dc:creator>Christian Navarro</dc:creator>
  <cp:lastModifiedBy>Christian Navarro</cp:lastModifiedBy>
  <cp:revision>2</cp:revision>
  <dcterms:created xsi:type="dcterms:W3CDTF">2023-08-06T22:53:40Z</dcterms:created>
  <dcterms:modified xsi:type="dcterms:W3CDTF">2026-01-10T18:10:42Z</dcterms:modified>
</cp:coreProperties>
</file>